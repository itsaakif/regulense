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698"/>
    <a:srgbClr val="E44D2A"/>
    <a:srgbClr val="D75937"/>
    <a:srgbClr val="2F7F95"/>
    <a:srgbClr val="B2CCEC"/>
    <a:srgbClr val="0000FF"/>
    <a:srgbClr val="5DB3CB"/>
    <a:srgbClr val="83C5D7"/>
    <a:srgbClr val="ACD8E6"/>
    <a:srgbClr val="50AE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20" y="-144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7E94DC-A08A-4477-BCBF-FAB6197A0415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CF9C506-C1A8-46F5-A89E-CC124C727DE1}">
      <dgm:prSet phldrT="[Text]" phldr="0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endParaRPr lang="en-US" sz="2400" b="1" dirty="0"/>
        </a:p>
        <a:p>
          <a:r>
            <a:rPr lang="en-US" sz="2400" b="1" u="sng" dirty="0"/>
            <a:t>Proposed Solution</a:t>
          </a:r>
        </a:p>
        <a:p>
          <a:endParaRPr lang="en-US" sz="2400" b="1" dirty="0"/>
        </a:p>
        <a:p>
          <a:endParaRPr lang="en-US" sz="2400" b="1" dirty="0"/>
        </a:p>
        <a:p>
          <a:endParaRPr lang="en-IN" sz="2400" b="1" dirty="0"/>
        </a:p>
      </dgm:t>
    </dgm:pt>
    <dgm:pt modelId="{9F62244E-DCF8-4892-B927-E51DAB1BA6D3}" type="parTrans" cxnId="{339FEDA9-C3D1-4601-A85C-A33D82992988}">
      <dgm:prSet/>
      <dgm:spPr/>
      <dgm:t>
        <a:bodyPr/>
        <a:lstStyle/>
        <a:p>
          <a:endParaRPr lang="en-IN"/>
        </a:p>
      </dgm:t>
    </dgm:pt>
    <dgm:pt modelId="{B8B33B02-6C6B-4195-8DDA-880B01EABFB9}" type="sibTrans" cxnId="{339FEDA9-C3D1-4601-A85C-A33D82992988}">
      <dgm:prSet/>
      <dgm:spPr/>
      <dgm:t>
        <a:bodyPr/>
        <a:lstStyle/>
        <a:p>
          <a:endParaRPr lang="en-IN"/>
        </a:p>
      </dgm:t>
    </dgm:pt>
    <dgm:pt modelId="{9E141523-94EE-4DBA-91BD-7F2778ECE3C3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pPr algn="just">
            <a:buNone/>
          </a:pPr>
          <a:endParaRPr lang="en-US" sz="1400" b="1" dirty="0"/>
        </a:p>
        <a:p>
          <a:pPr algn="just">
            <a:buFont typeface="Wingdings" panose="05000000000000000000" pitchFamily="2" charset="2"/>
            <a:buChar char="q"/>
          </a:pPr>
          <a:r>
            <a:rPr lang="en-US" sz="1400" b="1" dirty="0"/>
            <a:t>Edge integration</a:t>
          </a:r>
          <a:r>
            <a:rPr lang="en-US" sz="1400" dirty="0"/>
            <a:t>: Raspberry Pi demonstrates real-world capture, ensuring scalability in warehouses or retail.</a:t>
          </a:r>
          <a:endParaRPr lang="en-IN" sz="1400" b="1" dirty="0"/>
        </a:p>
        <a:p>
          <a:pPr algn="just">
            <a:buNone/>
          </a:pPr>
          <a:r>
            <a:rPr lang="en-US" sz="1400" b="1" dirty="0"/>
            <a:t>Scalability</a:t>
          </a:r>
          <a:r>
            <a:rPr lang="en-US" sz="1400" dirty="0"/>
            <a:t>: Laptop/Server-based processing allows handling large datasets; models can later be deployed directly to Raspberry Pi 5 for true edge compliance.</a:t>
          </a:r>
          <a:endParaRPr lang="en-US" sz="1400" b="1" dirty="0"/>
        </a:p>
        <a:p>
          <a:pPr algn="just">
            <a:buNone/>
          </a:pPr>
          <a:r>
            <a:rPr lang="en-US" sz="1400" b="1" dirty="0"/>
            <a:t>User-friendly</a:t>
          </a:r>
          <a:r>
            <a:rPr lang="en-US" sz="1400" dirty="0"/>
            <a:t>: A minimal modern dashboard makes results easy to interpret for inspectors with no technical background.</a:t>
          </a:r>
        </a:p>
        <a:p>
          <a:pPr algn="just">
            <a:buNone/>
          </a:pPr>
          <a:endParaRPr lang="en-IN" sz="1400" dirty="0"/>
        </a:p>
      </dgm:t>
    </dgm:pt>
    <dgm:pt modelId="{95BEB6F7-EF8C-4ED1-BDF1-0B6F3358BCB9}" type="parTrans" cxnId="{724F94BE-D6D0-4F93-88E7-2086D3C6D7E4}">
      <dgm:prSet/>
      <dgm:spPr/>
      <dgm:t>
        <a:bodyPr/>
        <a:lstStyle/>
        <a:p>
          <a:endParaRPr lang="en-IN"/>
        </a:p>
      </dgm:t>
    </dgm:pt>
    <dgm:pt modelId="{84ADD16F-A912-44FD-98B7-63590D1F301B}" type="sibTrans" cxnId="{724F94BE-D6D0-4F93-88E7-2086D3C6D7E4}">
      <dgm:prSet/>
      <dgm:spPr/>
      <dgm:t>
        <a:bodyPr/>
        <a:lstStyle/>
        <a:p>
          <a:endParaRPr lang="en-IN"/>
        </a:p>
      </dgm:t>
    </dgm:pt>
    <dgm:pt modelId="{6009074D-8167-414D-9903-54E3FFC46FD4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sz="1200" b="1" dirty="0"/>
            <a:t>Edge-Integrated Compliance Capture</a:t>
          </a:r>
          <a:endParaRPr lang="en-IN" sz="1200" dirty="0"/>
        </a:p>
        <a:p>
          <a:pPr algn="just">
            <a:buFont typeface="Arial" panose="020B0604020202020204" pitchFamily="34" charset="0"/>
            <a:buChar char="•"/>
          </a:pPr>
          <a:r>
            <a:rPr lang="en-US" sz="1200" dirty="0"/>
            <a:t>Unlike existing OCR apps that work only on mobile/PC, our solution integrates a </a:t>
          </a:r>
          <a:r>
            <a:rPr lang="en-US" sz="1200" b="0" dirty="0"/>
            <a:t>Raspberry Pi (or mobile as fallback) </a:t>
          </a:r>
          <a:r>
            <a:rPr lang="en-US" sz="1200" dirty="0"/>
            <a:t>as a dedicated edge capture device.</a:t>
          </a:r>
        </a:p>
        <a:p>
          <a:pPr algn="just">
            <a:buFont typeface="Arial" panose="020B0604020202020204" pitchFamily="34" charset="0"/>
            <a:buChar char="•"/>
          </a:pPr>
          <a:r>
            <a:rPr lang="en-US" sz="1200" b="1" dirty="0"/>
            <a:t>Hybrid Architecture (Edge + Central Processing)</a:t>
          </a:r>
          <a:endParaRPr lang="en-US" sz="1200" dirty="0"/>
        </a:p>
        <a:p>
          <a:pPr algn="just">
            <a:buFont typeface="Arial" panose="020B0604020202020204" pitchFamily="34" charset="0"/>
            <a:buChar char="•"/>
          </a:pPr>
          <a:r>
            <a:rPr lang="en-US" sz="1200" dirty="0"/>
            <a:t>Lightweight capture on Pi + heavy OCR/validation on laptop ensures </a:t>
          </a:r>
          <a:r>
            <a:rPr lang="en-US" sz="1200" b="0" dirty="0"/>
            <a:t>reliability even on low-powered devices.</a:t>
          </a:r>
        </a:p>
        <a:p>
          <a:pPr algn="just">
            <a:buFont typeface="Arial" panose="020B0604020202020204" pitchFamily="34" charset="0"/>
            <a:buChar char="•"/>
          </a:pPr>
          <a:r>
            <a:rPr lang="en-IN" sz="1200" b="1" dirty="0"/>
            <a:t>Automated Compliance Scoring &amp; Reports</a:t>
          </a:r>
          <a:endParaRPr lang="en-IN" sz="1200" dirty="0"/>
        </a:p>
        <a:p>
          <a:pPr algn="just">
            <a:buFont typeface="Arial" panose="020B0604020202020204" pitchFamily="34" charset="0"/>
            <a:buChar char="•"/>
          </a:pPr>
          <a:r>
            <a:rPr lang="en-US" sz="1200" dirty="0"/>
            <a:t>The system doesn’t just say what text was found - it </a:t>
          </a:r>
          <a:r>
            <a:rPr lang="en-US" sz="1200" b="0" dirty="0"/>
            <a:t>flags missing/invalid fields and generates a compliance score </a:t>
          </a:r>
          <a:r>
            <a:rPr lang="en-US" sz="1200" dirty="0"/>
            <a:t>with explanations.</a:t>
          </a:r>
        </a:p>
      </dgm:t>
    </dgm:pt>
    <dgm:pt modelId="{3C593FA4-F230-475F-B9BC-F727B4B93FC8}" type="parTrans" cxnId="{FCC756A1-9AE4-495F-9192-FD78EA6BFE8F}">
      <dgm:prSet/>
      <dgm:spPr/>
      <dgm:t>
        <a:bodyPr/>
        <a:lstStyle/>
        <a:p>
          <a:endParaRPr lang="en-IN"/>
        </a:p>
      </dgm:t>
    </dgm:pt>
    <dgm:pt modelId="{0BB7D0AF-7C0D-4EC4-9303-9F2DC47966F5}" type="sibTrans" cxnId="{FCC756A1-9AE4-495F-9192-FD78EA6BFE8F}">
      <dgm:prSet/>
      <dgm:spPr/>
      <dgm:t>
        <a:bodyPr/>
        <a:lstStyle/>
        <a:p>
          <a:endParaRPr lang="en-IN"/>
        </a:p>
      </dgm:t>
    </dgm:pt>
    <dgm:pt modelId="{A7389116-A992-4EE7-9B3E-7BBDF1569CC6}">
      <dgm:prSet phldrT="[Text]" phldr="0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2400" b="1" u="sng" dirty="0"/>
            <a:t>Solution Approach</a:t>
          </a:r>
        </a:p>
        <a:p>
          <a:endParaRPr lang="en-US" sz="2400" b="1" dirty="0"/>
        </a:p>
        <a:p>
          <a:r>
            <a:rPr lang="en-US" sz="2400" b="1" dirty="0"/>
            <a:t> </a:t>
          </a:r>
          <a:endParaRPr lang="en-IN" sz="2400" b="1" dirty="0"/>
        </a:p>
      </dgm:t>
    </dgm:pt>
    <dgm:pt modelId="{D6D4D196-CC91-4094-8D5D-7FF923D28061}" type="parTrans" cxnId="{6A6DF1CC-9BE8-467A-82C7-07080E025F70}">
      <dgm:prSet/>
      <dgm:spPr/>
      <dgm:t>
        <a:bodyPr/>
        <a:lstStyle/>
        <a:p>
          <a:endParaRPr lang="en-IN"/>
        </a:p>
      </dgm:t>
    </dgm:pt>
    <dgm:pt modelId="{5CF158C4-0F1B-4034-B3D9-649CAEDC4263}" type="sibTrans" cxnId="{6A6DF1CC-9BE8-467A-82C7-07080E025F70}">
      <dgm:prSet/>
      <dgm:spPr/>
      <dgm:t>
        <a:bodyPr/>
        <a:lstStyle/>
        <a:p>
          <a:endParaRPr lang="en-IN"/>
        </a:p>
      </dgm:t>
    </dgm:pt>
    <dgm:pt modelId="{074514F3-3FD3-479E-8630-1D3764550B60}">
      <dgm:prSet phldrT="[Text]" custT="1"/>
      <dgm:spPr>
        <a:solidFill>
          <a:schemeClr val="accent5">
            <a:lumMod val="50000"/>
          </a:schemeClr>
        </a:solidFill>
      </dgm:spPr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1250" b="1" dirty="0"/>
            <a:t>Edge Capture -</a:t>
          </a:r>
          <a:r>
            <a:rPr lang="en-US" sz="1250" dirty="0"/>
            <a:t> Raspberry Pi (or mobile fallback) captures product label images at source.</a:t>
          </a:r>
        </a:p>
        <a:p>
          <a:pPr algn="just">
            <a:buFont typeface="Arial" panose="020B0604020202020204" pitchFamily="34" charset="0"/>
            <a:buChar char="•"/>
          </a:pPr>
          <a:r>
            <a:rPr lang="en-US" sz="1250" b="1" dirty="0"/>
            <a:t>Central Processing -</a:t>
          </a:r>
          <a:r>
            <a:rPr lang="en-US" sz="1250" dirty="0"/>
            <a:t> Laptop/Server receives images, handles preprocessing, OCR, and compliance validation.</a:t>
          </a:r>
        </a:p>
        <a:p>
          <a:pPr algn="just">
            <a:buFont typeface="Arial" panose="020B0604020202020204" pitchFamily="34" charset="0"/>
            <a:buChar char="•"/>
          </a:pPr>
          <a:r>
            <a:rPr lang="en-US" sz="1250" b="1" dirty="0"/>
            <a:t>Preprocessing - </a:t>
          </a:r>
          <a:r>
            <a:rPr lang="en-US" sz="1250" dirty="0"/>
            <a:t>Enhance images (grayscale, thresholding, denoise).</a:t>
          </a:r>
        </a:p>
        <a:p>
          <a:pPr algn="just">
            <a:buFont typeface="Arial" panose="020B0604020202020204" pitchFamily="34" charset="0"/>
            <a:buChar char="•"/>
          </a:pPr>
          <a:r>
            <a:rPr lang="en-US" sz="1250" b="1" dirty="0"/>
            <a:t>PaddleOCR Lite -</a:t>
          </a:r>
          <a:r>
            <a:rPr lang="en-US" sz="1250" dirty="0"/>
            <a:t> Extract multi-language text efficiently.</a:t>
          </a:r>
        </a:p>
        <a:p>
          <a:pPr algn="just">
            <a:buFont typeface="Arial" panose="020B0604020202020204" pitchFamily="34" charset="0"/>
            <a:buChar char="•"/>
          </a:pPr>
          <a:r>
            <a:rPr lang="en-IN" sz="1250" b="1" dirty="0"/>
            <a:t>Problem Understanding:</a:t>
          </a:r>
          <a:endParaRPr lang="en-IN" sz="1250" dirty="0"/>
        </a:p>
        <a:p>
          <a:pPr algn="just">
            <a:buFont typeface="Arial" panose="020B0604020202020204" pitchFamily="34" charset="0"/>
            <a:buChar char="•"/>
          </a:pPr>
          <a:r>
            <a:rPr lang="en-US" sz="1250" dirty="0"/>
            <a:t>Manual inspection of product labels for Legal Metrology compliance is time-consuming and error-prone.</a:t>
          </a:r>
          <a:endParaRPr lang="en-IN" sz="1250" dirty="0"/>
        </a:p>
      </dgm:t>
    </dgm:pt>
    <dgm:pt modelId="{842AA4AA-4265-4853-852C-BD4A5929776E}" type="parTrans" cxnId="{6E83A5CE-52EE-48AD-AF12-61D84C34BB6A}">
      <dgm:prSet/>
      <dgm:spPr/>
      <dgm:t>
        <a:bodyPr/>
        <a:lstStyle/>
        <a:p>
          <a:endParaRPr lang="en-IN"/>
        </a:p>
      </dgm:t>
    </dgm:pt>
    <dgm:pt modelId="{E0076757-08DF-430B-95E3-21A3E9210B1E}" type="sibTrans" cxnId="{6E83A5CE-52EE-48AD-AF12-61D84C34BB6A}">
      <dgm:prSet/>
      <dgm:spPr/>
      <dgm:t>
        <a:bodyPr/>
        <a:lstStyle/>
        <a:p>
          <a:endParaRPr lang="en-IN"/>
        </a:p>
      </dgm:t>
    </dgm:pt>
    <dgm:pt modelId="{87CD5B73-7530-4702-BEFB-F3A9DEC17E91}">
      <dgm:prSet phldrT="[Text]" phldr="0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endParaRPr lang="en-US" sz="2400" b="1" u="none" dirty="0"/>
        </a:p>
        <a:p>
          <a:r>
            <a:rPr lang="en-US" sz="2400" b="1" u="sng" dirty="0"/>
            <a:t>Innovation &amp; Uniqueness</a:t>
          </a:r>
        </a:p>
        <a:p>
          <a:endParaRPr lang="en-IN" sz="2400" b="1" u="none" dirty="0"/>
        </a:p>
        <a:p>
          <a:endParaRPr lang="en-IN" sz="2400" b="1" u="none" dirty="0"/>
        </a:p>
        <a:p>
          <a:endParaRPr lang="en-IN" sz="2400" b="1" u="none" dirty="0"/>
        </a:p>
      </dgm:t>
    </dgm:pt>
    <dgm:pt modelId="{BF7735BB-C4D0-4A10-BF2B-F5911DAB7EC9}" type="sibTrans" cxnId="{C29A6F86-8D84-4AA8-A6DA-114AC9EC3EE2}">
      <dgm:prSet/>
      <dgm:spPr/>
      <dgm:t>
        <a:bodyPr/>
        <a:lstStyle/>
        <a:p>
          <a:endParaRPr lang="en-IN"/>
        </a:p>
      </dgm:t>
    </dgm:pt>
    <dgm:pt modelId="{05C6413D-7209-4CC7-9C6A-860E1E2C29B8}" type="parTrans" cxnId="{C29A6F86-8D84-4AA8-A6DA-114AC9EC3EE2}">
      <dgm:prSet/>
      <dgm:spPr/>
      <dgm:t>
        <a:bodyPr/>
        <a:lstStyle/>
        <a:p>
          <a:endParaRPr lang="en-IN"/>
        </a:p>
      </dgm:t>
    </dgm:pt>
    <dgm:pt modelId="{C8BE5CFB-9B98-4A3A-AC2F-9C2320E09280}" type="pres">
      <dgm:prSet presAssocID="{7F7E94DC-A08A-4477-BCBF-FAB6197A0415}" presName="theList" presStyleCnt="0">
        <dgm:presLayoutVars>
          <dgm:dir/>
          <dgm:animLvl val="lvl"/>
          <dgm:resizeHandles val="exact"/>
        </dgm:presLayoutVars>
      </dgm:prSet>
      <dgm:spPr/>
    </dgm:pt>
    <dgm:pt modelId="{C2D80D6A-596D-4296-B506-9460915BAC67}" type="pres">
      <dgm:prSet presAssocID="{BCF9C506-C1A8-46F5-A89E-CC124C727DE1}" presName="compNode" presStyleCnt="0"/>
      <dgm:spPr/>
    </dgm:pt>
    <dgm:pt modelId="{0C2171CC-B77C-465E-B2B1-15C5D1521243}" type="pres">
      <dgm:prSet presAssocID="{BCF9C506-C1A8-46F5-A89E-CC124C727DE1}" presName="aNode" presStyleLbl="bgShp" presStyleIdx="0" presStyleCnt="3"/>
      <dgm:spPr/>
    </dgm:pt>
    <dgm:pt modelId="{55D0E0A0-9C77-402F-8E3C-46A417B8134D}" type="pres">
      <dgm:prSet presAssocID="{BCF9C506-C1A8-46F5-A89E-CC124C727DE1}" presName="textNode" presStyleLbl="bgShp" presStyleIdx="0" presStyleCnt="3"/>
      <dgm:spPr/>
    </dgm:pt>
    <dgm:pt modelId="{7C7B98EE-01C4-4B96-83CB-3C1541B4C6E3}" type="pres">
      <dgm:prSet presAssocID="{BCF9C506-C1A8-46F5-A89E-CC124C727DE1}" presName="compChildNode" presStyleCnt="0"/>
      <dgm:spPr/>
    </dgm:pt>
    <dgm:pt modelId="{6EFDA021-992B-4AC5-ADF1-9ED5EA8BEA13}" type="pres">
      <dgm:prSet presAssocID="{BCF9C506-C1A8-46F5-A89E-CC124C727DE1}" presName="theInnerList" presStyleCnt="0"/>
      <dgm:spPr/>
    </dgm:pt>
    <dgm:pt modelId="{773C9DA4-045A-46CC-B59D-BF7B36681E3D}" type="pres">
      <dgm:prSet presAssocID="{9E141523-94EE-4DBA-91BD-7F2778ECE3C3}" presName="childNode" presStyleLbl="node1" presStyleIdx="0" presStyleCnt="3" custScaleX="113819" custScaleY="105003" custLinFactNeighborX="-908" custLinFactNeighborY="-14932">
        <dgm:presLayoutVars>
          <dgm:bulletEnabled val="1"/>
        </dgm:presLayoutVars>
      </dgm:prSet>
      <dgm:spPr/>
    </dgm:pt>
    <dgm:pt modelId="{CAE060F3-3ABD-4185-BFB8-05BAD8A47F39}" type="pres">
      <dgm:prSet presAssocID="{BCF9C506-C1A8-46F5-A89E-CC124C727DE1}" presName="aSpace" presStyleCnt="0"/>
      <dgm:spPr/>
    </dgm:pt>
    <dgm:pt modelId="{B890833B-771F-47D7-8735-EC32288C5419}" type="pres">
      <dgm:prSet presAssocID="{87CD5B73-7530-4702-BEFB-F3A9DEC17E91}" presName="compNode" presStyleCnt="0"/>
      <dgm:spPr/>
    </dgm:pt>
    <dgm:pt modelId="{CE6E89F2-1D7D-4EBB-BA56-11C0B381F2C2}" type="pres">
      <dgm:prSet presAssocID="{87CD5B73-7530-4702-BEFB-F3A9DEC17E91}" presName="aNode" presStyleLbl="bgShp" presStyleIdx="1" presStyleCnt="3"/>
      <dgm:spPr/>
    </dgm:pt>
    <dgm:pt modelId="{59B00451-EDCB-4952-B203-7945FA87DD75}" type="pres">
      <dgm:prSet presAssocID="{87CD5B73-7530-4702-BEFB-F3A9DEC17E91}" presName="textNode" presStyleLbl="bgShp" presStyleIdx="1" presStyleCnt="3"/>
      <dgm:spPr/>
    </dgm:pt>
    <dgm:pt modelId="{FDBD9E26-15AD-40C8-BC89-3F227382350B}" type="pres">
      <dgm:prSet presAssocID="{87CD5B73-7530-4702-BEFB-F3A9DEC17E91}" presName="compChildNode" presStyleCnt="0"/>
      <dgm:spPr/>
    </dgm:pt>
    <dgm:pt modelId="{B8237AD5-5EED-41C7-A85A-61A242C9787D}" type="pres">
      <dgm:prSet presAssocID="{87CD5B73-7530-4702-BEFB-F3A9DEC17E91}" presName="theInnerList" presStyleCnt="0"/>
      <dgm:spPr/>
    </dgm:pt>
    <dgm:pt modelId="{56999465-79EE-4E5E-A7DA-D7180568EDA2}" type="pres">
      <dgm:prSet presAssocID="{6009074D-8167-414D-9903-54E3FFC46FD4}" presName="childNode" presStyleLbl="node1" presStyleIdx="1" presStyleCnt="3" custScaleX="114948" custLinFactNeighborX="0" custLinFactNeighborY="-13911">
        <dgm:presLayoutVars>
          <dgm:bulletEnabled val="1"/>
        </dgm:presLayoutVars>
      </dgm:prSet>
      <dgm:spPr/>
    </dgm:pt>
    <dgm:pt modelId="{A721D426-3CCE-4004-8386-CB7A5E6E3381}" type="pres">
      <dgm:prSet presAssocID="{87CD5B73-7530-4702-BEFB-F3A9DEC17E91}" presName="aSpace" presStyleCnt="0"/>
      <dgm:spPr/>
    </dgm:pt>
    <dgm:pt modelId="{5605CBEA-543F-4A49-A618-E857F8BB51E8}" type="pres">
      <dgm:prSet presAssocID="{A7389116-A992-4EE7-9B3E-7BBDF1569CC6}" presName="compNode" presStyleCnt="0"/>
      <dgm:spPr/>
    </dgm:pt>
    <dgm:pt modelId="{A454519C-AAEC-4F36-9258-E77C138DCC0F}" type="pres">
      <dgm:prSet presAssocID="{A7389116-A992-4EE7-9B3E-7BBDF1569CC6}" presName="aNode" presStyleLbl="bgShp" presStyleIdx="2" presStyleCnt="3"/>
      <dgm:spPr/>
    </dgm:pt>
    <dgm:pt modelId="{568EA29A-1D95-4193-BA1B-B11DFA43BF0C}" type="pres">
      <dgm:prSet presAssocID="{A7389116-A992-4EE7-9B3E-7BBDF1569CC6}" presName="textNode" presStyleLbl="bgShp" presStyleIdx="2" presStyleCnt="3"/>
      <dgm:spPr/>
    </dgm:pt>
    <dgm:pt modelId="{67965D14-FC3F-4D9A-9721-9EEA8CC0E0CF}" type="pres">
      <dgm:prSet presAssocID="{A7389116-A992-4EE7-9B3E-7BBDF1569CC6}" presName="compChildNode" presStyleCnt="0"/>
      <dgm:spPr/>
    </dgm:pt>
    <dgm:pt modelId="{EB07C8AF-9134-4852-8536-946924354CF8}" type="pres">
      <dgm:prSet presAssocID="{A7389116-A992-4EE7-9B3E-7BBDF1569CC6}" presName="theInnerList" presStyleCnt="0"/>
      <dgm:spPr/>
    </dgm:pt>
    <dgm:pt modelId="{671DF10A-D7DD-4D09-AD66-C008C127CB02}" type="pres">
      <dgm:prSet presAssocID="{074514F3-3FD3-479E-8630-1D3764550B60}" presName="childNode" presStyleLbl="node1" presStyleIdx="2" presStyleCnt="3" custScaleX="109167" custLinFactNeighborX="-212" custLinFactNeighborY="-13372">
        <dgm:presLayoutVars>
          <dgm:bulletEnabled val="1"/>
        </dgm:presLayoutVars>
      </dgm:prSet>
      <dgm:spPr/>
    </dgm:pt>
  </dgm:ptLst>
  <dgm:cxnLst>
    <dgm:cxn modelId="{C55AD90D-8167-4A6F-B4D0-B34606918A68}" type="presOf" srcId="{87CD5B73-7530-4702-BEFB-F3A9DEC17E91}" destId="{59B00451-EDCB-4952-B203-7945FA87DD75}" srcOrd="1" destOrd="0" presId="urn:microsoft.com/office/officeart/2005/8/layout/lProcess2"/>
    <dgm:cxn modelId="{A38C080E-9AE3-43DB-B965-EABF3CE33398}" type="presOf" srcId="{87CD5B73-7530-4702-BEFB-F3A9DEC17E91}" destId="{CE6E89F2-1D7D-4EBB-BA56-11C0B381F2C2}" srcOrd="0" destOrd="0" presId="urn:microsoft.com/office/officeart/2005/8/layout/lProcess2"/>
    <dgm:cxn modelId="{CF467312-F4C1-4E77-B993-703DA1F08FB7}" type="presOf" srcId="{BCF9C506-C1A8-46F5-A89E-CC124C727DE1}" destId="{55D0E0A0-9C77-402F-8E3C-46A417B8134D}" srcOrd="1" destOrd="0" presId="urn:microsoft.com/office/officeart/2005/8/layout/lProcess2"/>
    <dgm:cxn modelId="{071BEA3B-1A5B-477A-A8BD-3F6799B102A1}" type="presOf" srcId="{074514F3-3FD3-479E-8630-1D3764550B60}" destId="{671DF10A-D7DD-4D09-AD66-C008C127CB02}" srcOrd="0" destOrd="0" presId="urn:microsoft.com/office/officeart/2005/8/layout/lProcess2"/>
    <dgm:cxn modelId="{6E02FA46-F252-459D-8EA9-2588885EF5B0}" type="presOf" srcId="{6009074D-8167-414D-9903-54E3FFC46FD4}" destId="{56999465-79EE-4E5E-A7DA-D7180568EDA2}" srcOrd="0" destOrd="0" presId="urn:microsoft.com/office/officeart/2005/8/layout/lProcess2"/>
    <dgm:cxn modelId="{C29A6F86-8D84-4AA8-A6DA-114AC9EC3EE2}" srcId="{7F7E94DC-A08A-4477-BCBF-FAB6197A0415}" destId="{87CD5B73-7530-4702-BEFB-F3A9DEC17E91}" srcOrd="1" destOrd="0" parTransId="{05C6413D-7209-4CC7-9C6A-860E1E2C29B8}" sibTransId="{BF7735BB-C4D0-4A10-BF2B-F5911DAB7EC9}"/>
    <dgm:cxn modelId="{AC1FF58C-EB79-479B-9783-22127B44BB50}" type="presOf" srcId="{7F7E94DC-A08A-4477-BCBF-FAB6197A0415}" destId="{C8BE5CFB-9B98-4A3A-AC2F-9C2320E09280}" srcOrd="0" destOrd="0" presId="urn:microsoft.com/office/officeart/2005/8/layout/lProcess2"/>
    <dgm:cxn modelId="{FCC756A1-9AE4-495F-9192-FD78EA6BFE8F}" srcId="{87CD5B73-7530-4702-BEFB-F3A9DEC17E91}" destId="{6009074D-8167-414D-9903-54E3FFC46FD4}" srcOrd="0" destOrd="0" parTransId="{3C593FA4-F230-475F-B9BC-F727B4B93FC8}" sibTransId="{0BB7D0AF-7C0D-4EC4-9303-9F2DC47966F5}"/>
    <dgm:cxn modelId="{400AF4A1-9EDE-4E06-AF5A-FD715BAD8963}" type="presOf" srcId="{A7389116-A992-4EE7-9B3E-7BBDF1569CC6}" destId="{A454519C-AAEC-4F36-9258-E77C138DCC0F}" srcOrd="0" destOrd="0" presId="urn:microsoft.com/office/officeart/2005/8/layout/lProcess2"/>
    <dgm:cxn modelId="{339FEDA9-C3D1-4601-A85C-A33D82992988}" srcId="{7F7E94DC-A08A-4477-BCBF-FAB6197A0415}" destId="{BCF9C506-C1A8-46F5-A89E-CC124C727DE1}" srcOrd="0" destOrd="0" parTransId="{9F62244E-DCF8-4892-B927-E51DAB1BA6D3}" sibTransId="{B8B33B02-6C6B-4195-8DDA-880B01EABFB9}"/>
    <dgm:cxn modelId="{724F94BE-D6D0-4F93-88E7-2086D3C6D7E4}" srcId="{BCF9C506-C1A8-46F5-A89E-CC124C727DE1}" destId="{9E141523-94EE-4DBA-91BD-7F2778ECE3C3}" srcOrd="0" destOrd="0" parTransId="{95BEB6F7-EF8C-4ED1-BDF1-0B6F3358BCB9}" sibTransId="{84ADD16F-A912-44FD-98B7-63590D1F301B}"/>
    <dgm:cxn modelId="{38669DC5-3737-4B6B-B1EA-4122A2EBECC8}" type="presOf" srcId="{BCF9C506-C1A8-46F5-A89E-CC124C727DE1}" destId="{0C2171CC-B77C-465E-B2B1-15C5D1521243}" srcOrd="0" destOrd="0" presId="urn:microsoft.com/office/officeart/2005/8/layout/lProcess2"/>
    <dgm:cxn modelId="{6A6DF1CC-9BE8-467A-82C7-07080E025F70}" srcId="{7F7E94DC-A08A-4477-BCBF-FAB6197A0415}" destId="{A7389116-A992-4EE7-9B3E-7BBDF1569CC6}" srcOrd="2" destOrd="0" parTransId="{D6D4D196-CC91-4094-8D5D-7FF923D28061}" sibTransId="{5CF158C4-0F1B-4034-B3D9-649CAEDC4263}"/>
    <dgm:cxn modelId="{6E83A5CE-52EE-48AD-AF12-61D84C34BB6A}" srcId="{A7389116-A992-4EE7-9B3E-7BBDF1569CC6}" destId="{074514F3-3FD3-479E-8630-1D3764550B60}" srcOrd="0" destOrd="0" parTransId="{842AA4AA-4265-4853-852C-BD4A5929776E}" sibTransId="{E0076757-08DF-430B-95E3-21A3E9210B1E}"/>
    <dgm:cxn modelId="{F33347E6-2C17-4D5E-BD06-96AA497B974D}" type="presOf" srcId="{9E141523-94EE-4DBA-91BD-7F2778ECE3C3}" destId="{773C9DA4-045A-46CC-B59D-BF7B36681E3D}" srcOrd="0" destOrd="0" presId="urn:microsoft.com/office/officeart/2005/8/layout/lProcess2"/>
    <dgm:cxn modelId="{FCC4E5F2-5893-469A-BB27-43E7F42B376B}" type="presOf" srcId="{A7389116-A992-4EE7-9B3E-7BBDF1569CC6}" destId="{568EA29A-1D95-4193-BA1B-B11DFA43BF0C}" srcOrd="1" destOrd="0" presId="urn:microsoft.com/office/officeart/2005/8/layout/lProcess2"/>
    <dgm:cxn modelId="{AA490E7C-E383-4BF4-82CB-30EAA7094DCE}" type="presParOf" srcId="{C8BE5CFB-9B98-4A3A-AC2F-9C2320E09280}" destId="{C2D80D6A-596D-4296-B506-9460915BAC67}" srcOrd="0" destOrd="0" presId="urn:microsoft.com/office/officeart/2005/8/layout/lProcess2"/>
    <dgm:cxn modelId="{E596F1AF-C5E7-4D91-87C8-82DC3B2513F1}" type="presParOf" srcId="{C2D80D6A-596D-4296-B506-9460915BAC67}" destId="{0C2171CC-B77C-465E-B2B1-15C5D1521243}" srcOrd="0" destOrd="0" presId="urn:microsoft.com/office/officeart/2005/8/layout/lProcess2"/>
    <dgm:cxn modelId="{34FF16C1-4875-4297-9502-1035F08CF484}" type="presParOf" srcId="{C2D80D6A-596D-4296-B506-9460915BAC67}" destId="{55D0E0A0-9C77-402F-8E3C-46A417B8134D}" srcOrd="1" destOrd="0" presId="urn:microsoft.com/office/officeart/2005/8/layout/lProcess2"/>
    <dgm:cxn modelId="{B714FD0A-47A7-4392-8857-607BE8B25C72}" type="presParOf" srcId="{C2D80D6A-596D-4296-B506-9460915BAC67}" destId="{7C7B98EE-01C4-4B96-83CB-3C1541B4C6E3}" srcOrd="2" destOrd="0" presId="urn:microsoft.com/office/officeart/2005/8/layout/lProcess2"/>
    <dgm:cxn modelId="{96DDA766-B26D-4C94-BD7A-FB17E168FD4C}" type="presParOf" srcId="{7C7B98EE-01C4-4B96-83CB-3C1541B4C6E3}" destId="{6EFDA021-992B-4AC5-ADF1-9ED5EA8BEA13}" srcOrd="0" destOrd="0" presId="urn:microsoft.com/office/officeart/2005/8/layout/lProcess2"/>
    <dgm:cxn modelId="{356FE3C2-1F0A-4FCF-B771-24D8EAE8DD4A}" type="presParOf" srcId="{6EFDA021-992B-4AC5-ADF1-9ED5EA8BEA13}" destId="{773C9DA4-045A-46CC-B59D-BF7B36681E3D}" srcOrd="0" destOrd="0" presId="urn:microsoft.com/office/officeart/2005/8/layout/lProcess2"/>
    <dgm:cxn modelId="{8ED3C7D2-58F6-4605-912A-4DB6D294FE21}" type="presParOf" srcId="{C8BE5CFB-9B98-4A3A-AC2F-9C2320E09280}" destId="{CAE060F3-3ABD-4185-BFB8-05BAD8A47F39}" srcOrd="1" destOrd="0" presId="urn:microsoft.com/office/officeart/2005/8/layout/lProcess2"/>
    <dgm:cxn modelId="{8A93D494-DDA5-421E-A2D0-AB262AE573A4}" type="presParOf" srcId="{C8BE5CFB-9B98-4A3A-AC2F-9C2320E09280}" destId="{B890833B-771F-47D7-8735-EC32288C5419}" srcOrd="2" destOrd="0" presId="urn:microsoft.com/office/officeart/2005/8/layout/lProcess2"/>
    <dgm:cxn modelId="{74A1F9CA-3A27-45F6-94B1-B29AA4F8AA65}" type="presParOf" srcId="{B890833B-771F-47D7-8735-EC32288C5419}" destId="{CE6E89F2-1D7D-4EBB-BA56-11C0B381F2C2}" srcOrd="0" destOrd="0" presId="urn:microsoft.com/office/officeart/2005/8/layout/lProcess2"/>
    <dgm:cxn modelId="{6AB530A7-5101-4BC3-9876-BDA5CD6230B7}" type="presParOf" srcId="{B890833B-771F-47D7-8735-EC32288C5419}" destId="{59B00451-EDCB-4952-B203-7945FA87DD75}" srcOrd="1" destOrd="0" presId="urn:microsoft.com/office/officeart/2005/8/layout/lProcess2"/>
    <dgm:cxn modelId="{59A098D7-D514-4614-B5EB-6FA8CD12C91B}" type="presParOf" srcId="{B890833B-771F-47D7-8735-EC32288C5419}" destId="{FDBD9E26-15AD-40C8-BC89-3F227382350B}" srcOrd="2" destOrd="0" presId="urn:microsoft.com/office/officeart/2005/8/layout/lProcess2"/>
    <dgm:cxn modelId="{88AFEA40-EF4A-4615-917A-E788FC2414F2}" type="presParOf" srcId="{FDBD9E26-15AD-40C8-BC89-3F227382350B}" destId="{B8237AD5-5EED-41C7-A85A-61A242C9787D}" srcOrd="0" destOrd="0" presId="urn:microsoft.com/office/officeart/2005/8/layout/lProcess2"/>
    <dgm:cxn modelId="{75D2AC60-A1EB-4FC8-8713-01863EB9BAB3}" type="presParOf" srcId="{B8237AD5-5EED-41C7-A85A-61A242C9787D}" destId="{56999465-79EE-4E5E-A7DA-D7180568EDA2}" srcOrd="0" destOrd="0" presId="urn:microsoft.com/office/officeart/2005/8/layout/lProcess2"/>
    <dgm:cxn modelId="{2CFCAA50-FCCC-4DC2-8414-083A4123D373}" type="presParOf" srcId="{C8BE5CFB-9B98-4A3A-AC2F-9C2320E09280}" destId="{A721D426-3CCE-4004-8386-CB7A5E6E3381}" srcOrd="3" destOrd="0" presId="urn:microsoft.com/office/officeart/2005/8/layout/lProcess2"/>
    <dgm:cxn modelId="{7E7B240E-BA76-4FD2-BD0A-5E4BF77EED2A}" type="presParOf" srcId="{C8BE5CFB-9B98-4A3A-AC2F-9C2320E09280}" destId="{5605CBEA-543F-4A49-A618-E857F8BB51E8}" srcOrd="4" destOrd="0" presId="urn:microsoft.com/office/officeart/2005/8/layout/lProcess2"/>
    <dgm:cxn modelId="{0160E1BC-A419-4DE2-8D65-83C3B1421E0A}" type="presParOf" srcId="{5605CBEA-543F-4A49-A618-E857F8BB51E8}" destId="{A454519C-AAEC-4F36-9258-E77C138DCC0F}" srcOrd="0" destOrd="0" presId="urn:microsoft.com/office/officeart/2005/8/layout/lProcess2"/>
    <dgm:cxn modelId="{0E45EC97-A64F-44E4-9A28-4796705EAF0E}" type="presParOf" srcId="{5605CBEA-543F-4A49-A618-E857F8BB51E8}" destId="{568EA29A-1D95-4193-BA1B-B11DFA43BF0C}" srcOrd="1" destOrd="0" presId="urn:microsoft.com/office/officeart/2005/8/layout/lProcess2"/>
    <dgm:cxn modelId="{75FE80C2-BA65-4D83-9F7C-EBF567393463}" type="presParOf" srcId="{5605CBEA-543F-4A49-A618-E857F8BB51E8}" destId="{67965D14-FC3F-4D9A-9721-9EEA8CC0E0CF}" srcOrd="2" destOrd="0" presId="urn:microsoft.com/office/officeart/2005/8/layout/lProcess2"/>
    <dgm:cxn modelId="{FBF3BB72-802D-48AF-920A-FA73B2A9A723}" type="presParOf" srcId="{67965D14-FC3F-4D9A-9721-9EEA8CC0E0CF}" destId="{EB07C8AF-9134-4852-8536-946924354CF8}" srcOrd="0" destOrd="0" presId="urn:microsoft.com/office/officeart/2005/8/layout/lProcess2"/>
    <dgm:cxn modelId="{49D0FC00-8290-458D-8A87-3392A791D9DE}" type="presParOf" srcId="{EB07C8AF-9134-4852-8536-946924354CF8}" destId="{671DF10A-D7DD-4D09-AD66-C008C127CB02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CBED43-E718-46CC-8FF0-9D493BBDC36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7F35CC4-0EA9-45EF-9FE9-262E648EC1A6}">
      <dgm:prSet phldrT="[Text]" custT="1"/>
      <dgm:spPr/>
      <dgm:t>
        <a:bodyPr/>
        <a:lstStyle/>
        <a:p>
          <a:endParaRPr kumimoji="0" lang="en-US" altLang="en-US" sz="1000" b="1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endParaRPr>
        </a:p>
        <a:p>
          <a:r>
            <a:rPr kumimoji="0" lang="en-US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Protection of consumers</a:t>
          </a:r>
          <a: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: Guarantees that purchasers always receive correct information, such as MRP, net quantity, and origin.</a:t>
          </a:r>
          <a:b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b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r>
            <a:rPr kumimoji="0" lang="en-US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Trust and Transparency</a:t>
          </a:r>
          <a: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: Promotes trust in both online and offline purchasing.</a:t>
          </a:r>
          <a:b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b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r>
            <a:rPr kumimoji="0" lang="en-US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Fair Trade Practices: </a:t>
          </a:r>
          <a: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Lowers the possibility of deceptive packaging leading to exploitation.</a:t>
          </a:r>
          <a:b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endParaRPr lang="en-IN" sz="1000" dirty="0">
            <a:solidFill>
              <a:schemeClr val="bg1"/>
            </a:solidFill>
          </a:endParaRPr>
        </a:p>
      </dgm:t>
    </dgm:pt>
    <dgm:pt modelId="{969F0728-0BD5-4223-9DAA-8C581993E671}" type="parTrans" cxnId="{DD669F4E-BDBF-4983-8D0A-7C3F11D8A49F}">
      <dgm:prSet/>
      <dgm:spPr/>
      <dgm:t>
        <a:bodyPr/>
        <a:lstStyle/>
        <a:p>
          <a:endParaRPr lang="en-IN"/>
        </a:p>
      </dgm:t>
    </dgm:pt>
    <dgm:pt modelId="{07C90132-2C8E-49AD-8D6F-42E0C8EEF4DA}" type="sibTrans" cxnId="{DD669F4E-BDBF-4983-8D0A-7C3F11D8A49F}">
      <dgm:prSet/>
      <dgm:spPr/>
      <dgm:t>
        <a:bodyPr/>
        <a:lstStyle/>
        <a:p>
          <a:endParaRPr lang="en-IN"/>
        </a:p>
      </dgm:t>
    </dgm:pt>
    <dgm:pt modelId="{44CDFADD-D578-44AB-8776-6452A04A83E1}">
      <dgm:prSet phldrT="[Text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kumimoji="0" lang="en-US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Reduced Penalties for Businesses: </a:t>
          </a:r>
          <a: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Assists sellers and manufacturers in spotting mistakes early on, preventing penalties.</a:t>
          </a:r>
          <a:b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b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r>
            <a:rPr kumimoji="0" lang="en-US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Encouragement of E-Commerce Reliability: </a:t>
          </a:r>
          <a: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By ensuring compliant listings, platforms can draw in more clients.</a:t>
          </a:r>
          <a:b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b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r>
            <a:rPr kumimoji="0" lang="en-US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Efficiency for Regulators: </a:t>
          </a:r>
          <a: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Reduces </a:t>
          </a:r>
          <a:r>
            <a:rPr kumimoji="0" lang="en-US" altLang="en-US" sz="10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labour</a:t>
          </a:r>
          <a:r>
            <a: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costs and expedites enforcement actions.</a:t>
          </a:r>
          <a:endParaRPr lang="en-IN" sz="1000" dirty="0">
            <a:solidFill>
              <a:schemeClr val="bg1"/>
            </a:solidFill>
          </a:endParaRPr>
        </a:p>
      </dgm:t>
    </dgm:pt>
    <dgm:pt modelId="{EC5E8330-363A-4C6A-AF7F-AD355C8286DE}" type="parTrans" cxnId="{0DA59D0D-28DF-471F-875E-75728E98EA94}">
      <dgm:prSet/>
      <dgm:spPr/>
      <dgm:t>
        <a:bodyPr/>
        <a:lstStyle/>
        <a:p>
          <a:endParaRPr lang="en-IN"/>
        </a:p>
      </dgm:t>
    </dgm:pt>
    <dgm:pt modelId="{3CC32BFF-46FD-4961-ADCC-2557E907EEC6}" type="sibTrans" cxnId="{0DA59D0D-28DF-471F-875E-75728E98EA94}">
      <dgm:prSet/>
      <dgm:spPr/>
      <dgm:t>
        <a:bodyPr/>
        <a:lstStyle/>
        <a:p>
          <a:endParaRPr lang="en-IN"/>
        </a:p>
      </dgm:t>
    </dgm:pt>
    <dgm:pt modelId="{84EE5632-D927-4E70-A7BC-636E3F0F9787}">
      <dgm:prSet phldrT="[Text]" custT="1"/>
      <dgm:spPr/>
      <dgm:t>
        <a:bodyPr/>
        <a:lstStyle/>
        <a:p>
          <a:r>
            <a:rPr kumimoji="0" lang="en-US" altLang="en-US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Decreased Paperwork: </a:t>
          </a:r>
          <a:r>
            <a: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Digital compliance reports eliminate the need for manual records and paper forms.</a:t>
          </a:r>
          <a:br>
            <a: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br>
            <a: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r>
            <a:rPr kumimoji="0" lang="en-US" altLang="en-US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Reduced Waste: </a:t>
          </a:r>
          <a:r>
            <a: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Reprinting and mass product recalls are avoided by early identification of labelling errors.</a:t>
          </a:r>
        </a:p>
      </dgm:t>
    </dgm:pt>
    <dgm:pt modelId="{B59BEA5B-D948-4510-8A55-88C03F503CCB}" type="parTrans" cxnId="{9991708D-B035-4868-8952-B637833FBD18}">
      <dgm:prSet/>
      <dgm:spPr/>
      <dgm:t>
        <a:bodyPr/>
        <a:lstStyle/>
        <a:p>
          <a:endParaRPr lang="en-IN"/>
        </a:p>
      </dgm:t>
    </dgm:pt>
    <dgm:pt modelId="{4782A4F3-11AE-426A-8B8C-ACB47961EAF1}" type="sibTrans" cxnId="{9991708D-B035-4868-8952-B637833FBD18}">
      <dgm:prSet/>
      <dgm:spPr/>
      <dgm:t>
        <a:bodyPr/>
        <a:lstStyle/>
        <a:p>
          <a:endParaRPr lang="en-IN"/>
        </a:p>
      </dgm:t>
    </dgm:pt>
    <dgm:pt modelId="{ABE73769-8372-493E-ACF3-5A31879499F1}" type="pres">
      <dgm:prSet presAssocID="{C6CBED43-E718-46CC-8FF0-9D493BBDC366}" presName="Name0" presStyleCnt="0">
        <dgm:presLayoutVars>
          <dgm:chMax val="7"/>
          <dgm:chPref val="7"/>
          <dgm:dir/>
        </dgm:presLayoutVars>
      </dgm:prSet>
      <dgm:spPr/>
    </dgm:pt>
    <dgm:pt modelId="{C38DA755-85BF-4B79-A026-6126B294500F}" type="pres">
      <dgm:prSet presAssocID="{C6CBED43-E718-46CC-8FF0-9D493BBDC366}" presName="Name1" presStyleCnt="0"/>
      <dgm:spPr/>
    </dgm:pt>
    <dgm:pt modelId="{175D5CCF-D1D1-4D7F-BA2F-96BBDDE1B46B}" type="pres">
      <dgm:prSet presAssocID="{C6CBED43-E718-46CC-8FF0-9D493BBDC366}" presName="cycle" presStyleCnt="0"/>
      <dgm:spPr/>
    </dgm:pt>
    <dgm:pt modelId="{570BB233-6505-499D-9147-340581D6A269}" type="pres">
      <dgm:prSet presAssocID="{C6CBED43-E718-46CC-8FF0-9D493BBDC366}" presName="srcNode" presStyleLbl="node1" presStyleIdx="0" presStyleCnt="3"/>
      <dgm:spPr/>
    </dgm:pt>
    <dgm:pt modelId="{72A019C1-E822-43EA-973E-3AD587C7A0E0}" type="pres">
      <dgm:prSet presAssocID="{C6CBED43-E718-46CC-8FF0-9D493BBDC366}" presName="conn" presStyleLbl="parChTrans1D2" presStyleIdx="0" presStyleCnt="1"/>
      <dgm:spPr/>
    </dgm:pt>
    <dgm:pt modelId="{51E5F76A-7737-44D0-8506-40600DA6046B}" type="pres">
      <dgm:prSet presAssocID="{C6CBED43-E718-46CC-8FF0-9D493BBDC366}" presName="extraNode" presStyleLbl="node1" presStyleIdx="0" presStyleCnt="3"/>
      <dgm:spPr/>
    </dgm:pt>
    <dgm:pt modelId="{5CD45AD9-6A67-4118-A6FA-14D7C232E081}" type="pres">
      <dgm:prSet presAssocID="{C6CBED43-E718-46CC-8FF0-9D493BBDC366}" presName="dstNode" presStyleLbl="node1" presStyleIdx="0" presStyleCnt="3"/>
      <dgm:spPr/>
    </dgm:pt>
    <dgm:pt modelId="{C179612F-240B-4DA0-9427-E0220071006A}" type="pres">
      <dgm:prSet presAssocID="{C7F35CC4-0EA9-45EF-9FE9-262E648EC1A6}" presName="text_1" presStyleLbl="node1" presStyleIdx="0" presStyleCnt="3" custScaleY="124466">
        <dgm:presLayoutVars>
          <dgm:bulletEnabled val="1"/>
        </dgm:presLayoutVars>
      </dgm:prSet>
      <dgm:spPr/>
    </dgm:pt>
    <dgm:pt modelId="{89F6ACF3-9068-48FD-9C77-1ECF644062C5}" type="pres">
      <dgm:prSet presAssocID="{C7F35CC4-0EA9-45EF-9FE9-262E648EC1A6}" presName="accent_1" presStyleCnt="0"/>
      <dgm:spPr/>
    </dgm:pt>
    <dgm:pt modelId="{CEB2FCCB-C1C2-404F-A277-EB97B67F08E6}" type="pres">
      <dgm:prSet presAssocID="{C7F35CC4-0EA9-45EF-9FE9-262E648EC1A6}" presName="accentRepeatNode" presStyleLbl="solidFgAcc1" presStyleIdx="0" presStyleCnt="3"/>
      <dgm:spPr>
        <a:solidFill>
          <a:srgbClr val="EFF698"/>
        </a:solidFill>
      </dgm:spPr>
    </dgm:pt>
    <dgm:pt modelId="{6FF081BA-CD7C-42D2-AB3D-55EDB6826920}" type="pres">
      <dgm:prSet presAssocID="{44CDFADD-D578-44AB-8776-6452A04A83E1}" presName="text_2" presStyleLbl="node1" presStyleIdx="1" presStyleCnt="3" custScaleY="124696">
        <dgm:presLayoutVars>
          <dgm:bulletEnabled val="1"/>
        </dgm:presLayoutVars>
      </dgm:prSet>
      <dgm:spPr/>
    </dgm:pt>
    <dgm:pt modelId="{F733C62C-0B34-4FB4-A722-6977C0D494CD}" type="pres">
      <dgm:prSet presAssocID="{44CDFADD-D578-44AB-8776-6452A04A83E1}" presName="accent_2" presStyleCnt="0"/>
      <dgm:spPr/>
    </dgm:pt>
    <dgm:pt modelId="{FEDF3CB2-DBB2-48AA-84A9-E61BF7F75E45}" type="pres">
      <dgm:prSet presAssocID="{44CDFADD-D578-44AB-8776-6452A04A83E1}" presName="accentRepeatNode" presStyleLbl="solidFgAcc1" presStyleIdx="1" presStyleCnt="3"/>
      <dgm:spPr>
        <a:solidFill>
          <a:srgbClr val="EFF698"/>
        </a:solidFill>
      </dgm:spPr>
    </dgm:pt>
    <dgm:pt modelId="{769D3A1E-DDF8-42E6-8667-9CC0D7EE01D9}" type="pres">
      <dgm:prSet presAssocID="{84EE5632-D927-4E70-A7BC-636E3F0F9787}" presName="text_3" presStyleLbl="node1" presStyleIdx="2" presStyleCnt="3" custScaleY="117714">
        <dgm:presLayoutVars>
          <dgm:bulletEnabled val="1"/>
        </dgm:presLayoutVars>
      </dgm:prSet>
      <dgm:spPr/>
    </dgm:pt>
    <dgm:pt modelId="{04434956-D8D8-446E-97D1-FAE1054D5F48}" type="pres">
      <dgm:prSet presAssocID="{84EE5632-D927-4E70-A7BC-636E3F0F9787}" presName="accent_3" presStyleCnt="0"/>
      <dgm:spPr/>
    </dgm:pt>
    <dgm:pt modelId="{2CD8FA29-D66D-4914-9E4E-D5D843079DB4}" type="pres">
      <dgm:prSet presAssocID="{84EE5632-D927-4E70-A7BC-636E3F0F9787}" presName="accentRepeatNode" presStyleLbl="solidFgAcc1" presStyleIdx="2" presStyleCnt="3"/>
      <dgm:spPr>
        <a:solidFill>
          <a:srgbClr val="EFF698"/>
        </a:solidFill>
      </dgm:spPr>
    </dgm:pt>
  </dgm:ptLst>
  <dgm:cxnLst>
    <dgm:cxn modelId="{E9EFE507-5445-487D-AB14-99DE7F8BF271}" type="presOf" srcId="{C6CBED43-E718-46CC-8FF0-9D493BBDC366}" destId="{ABE73769-8372-493E-ACF3-5A31879499F1}" srcOrd="0" destOrd="0" presId="urn:microsoft.com/office/officeart/2008/layout/VerticalCurvedList"/>
    <dgm:cxn modelId="{0DA59D0D-28DF-471F-875E-75728E98EA94}" srcId="{C6CBED43-E718-46CC-8FF0-9D493BBDC366}" destId="{44CDFADD-D578-44AB-8776-6452A04A83E1}" srcOrd="1" destOrd="0" parTransId="{EC5E8330-363A-4C6A-AF7F-AD355C8286DE}" sibTransId="{3CC32BFF-46FD-4961-ADCC-2557E907EEC6}"/>
    <dgm:cxn modelId="{DD669F4E-BDBF-4983-8D0A-7C3F11D8A49F}" srcId="{C6CBED43-E718-46CC-8FF0-9D493BBDC366}" destId="{C7F35CC4-0EA9-45EF-9FE9-262E648EC1A6}" srcOrd="0" destOrd="0" parTransId="{969F0728-0BD5-4223-9DAA-8C581993E671}" sibTransId="{07C90132-2C8E-49AD-8D6F-42E0C8EEF4DA}"/>
    <dgm:cxn modelId="{66620752-83CB-4F43-92BA-CFAF544C695E}" type="presOf" srcId="{84EE5632-D927-4E70-A7BC-636E3F0F9787}" destId="{769D3A1E-DDF8-42E6-8667-9CC0D7EE01D9}" srcOrd="0" destOrd="0" presId="urn:microsoft.com/office/officeart/2008/layout/VerticalCurvedList"/>
    <dgm:cxn modelId="{4EFD9178-72C9-4355-BB85-208AD8A85C37}" type="presOf" srcId="{44CDFADD-D578-44AB-8776-6452A04A83E1}" destId="{6FF081BA-CD7C-42D2-AB3D-55EDB6826920}" srcOrd="0" destOrd="0" presId="urn:microsoft.com/office/officeart/2008/layout/VerticalCurvedList"/>
    <dgm:cxn modelId="{0D9BF583-8F47-4F01-BB80-D8BFDA4FEC7C}" type="presOf" srcId="{C7F35CC4-0EA9-45EF-9FE9-262E648EC1A6}" destId="{C179612F-240B-4DA0-9427-E0220071006A}" srcOrd="0" destOrd="0" presId="urn:microsoft.com/office/officeart/2008/layout/VerticalCurvedList"/>
    <dgm:cxn modelId="{9991708D-B035-4868-8952-B637833FBD18}" srcId="{C6CBED43-E718-46CC-8FF0-9D493BBDC366}" destId="{84EE5632-D927-4E70-A7BC-636E3F0F9787}" srcOrd="2" destOrd="0" parTransId="{B59BEA5B-D948-4510-8A55-88C03F503CCB}" sibTransId="{4782A4F3-11AE-426A-8B8C-ACB47961EAF1}"/>
    <dgm:cxn modelId="{6D230AA5-05E5-43CF-8BCE-B301ECFE3AE3}" type="presOf" srcId="{07C90132-2C8E-49AD-8D6F-42E0C8EEF4DA}" destId="{72A019C1-E822-43EA-973E-3AD587C7A0E0}" srcOrd="0" destOrd="0" presId="urn:microsoft.com/office/officeart/2008/layout/VerticalCurvedList"/>
    <dgm:cxn modelId="{F0011DE1-CA38-4A73-9336-AD064A21EF93}" type="presParOf" srcId="{ABE73769-8372-493E-ACF3-5A31879499F1}" destId="{C38DA755-85BF-4B79-A026-6126B294500F}" srcOrd="0" destOrd="0" presId="urn:microsoft.com/office/officeart/2008/layout/VerticalCurvedList"/>
    <dgm:cxn modelId="{9AC3FD90-BD4C-4848-AF17-95F8204ECD27}" type="presParOf" srcId="{C38DA755-85BF-4B79-A026-6126B294500F}" destId="{175D5CCF-D1D1-4D7F-BA2F-96BBDDE1B46B}" srcOrd="0" destOrd="0" presId="urn:microsoft.com/office/officeart/2008/layout/VerticalCurvedList"/>
    <dgm:cxn modelId="{382C2761-D5AC-4165-9E04-5460596D61CF}" type="presParOf" srcId="{175D5CCF-D1D1-4D7F-BA2F-96BBDDE1B46B}" destId="{570BB233-6505-499D-9147-340581D6A269}" srcOrd="0" destOrd="0" presId="urn:microsoft.com/office/officeart/2008/layout/VerticalCurvedList"/>
    <dgm:cxn modelId="{9776AD1E-36B7-4CE7-A6DB-B33E4B410C15}" type="presParOf" srcId="{175D5CCF-D1D1-4D7F-BA2F-96BBDDE1B46B}" destId="{72A019C1-E822-43EA-973E-3AD587C7A0E0}" srcOrd="1" destOrd="0" presId="urn:microsoft.com/office/officeart/2008/layout/VerticalCurvedList"/>
    <dgm:cxn modelId="{C38A43AB-1D27-4C44-8709-829F18E0B320}" type="presParOf" srcId="{175D5CCF-D1D1-4D7F-BA2F-96BBDDE1B46B}" destId="{51E5F76A-7737-44D0-8506-40600DA6046B}" srcOrd="2" destOrd="0" presId="urn:microsoft.com/office/officeart/2008/layout/VerticalCurvedList"/>
    <dgm:cxn modelId="{C8FA999E-DD15-478F-9DB3-7E540D8BFDB3}" type="presParOf" srcId="{175D5CCF-D1D1-4D7F-BA2F-96BBDDE1B46B}" destId="{5CD45AD9-6A67-4118-A6FA-14D7C232E081}" srcOrd="3" destOrd="0" presId="urn:microsoft.com/office/officeart/2008/layout/VerticalCurvedList"/>
    <dgm:cxn modelId="{4B014258-A363-4F56-A68E-0EEF3F481666}" type="presParOf" srcId="{C38DA755-85BF-4B79-A026-6126B294500F}" destId="{C179612F-240B-4DA0-9427-E0220071006A}" srcOrd="1" destOrd="0" presId="urn:microsoft.com/office/officeart/2008/layout/VerticalCurvedList"/>
    <dgm:cxn modelId="{6193BBC0-AD06-45C5-B932-96A259165873}" type="presParOf" srcId="{C38DA755-85BF-4B79-A026-6126B294500F}" destId="{89F6ACF3-9068-48FD-9C77-1ECF644062C5}" srcOrd="2" destOrd="0" presId="urn:microsoft.com/office/officeart/2008/layout/VerticalCurvedList"/>
    <dgm:cxn modelId="{9701720E-4582-4C88-B550-EB6B97CDCF6B}" type="presParOf" srcId="{89F6ACF3-9068-48FD-9C77-1ECF644062C5}" destId="{CEB2FCCB-C1C2-404F-A277-EB97B67F08E6}" srcOrd="0" destOrd="0" presId="urn:microsoft.com/office/officeart/2008/layout/VerticalCurvedList"/>
    <dgm:cxn modelId="{D209CD52-082F-4AC8-B455-B39B09416CDA}" type="presParOf" srcId="{C38DA755-85BF-4B79-A026-6126B294500F}" destId="{6FF081BA-CD7C-42D2-AB3D-55EDB6826920}" srcOrd="3" destOrd="0" presId="urn:microsoft.com/office/officeart/2008/layout/VerticalCurvedList"/>
    <dgm:cxn modelId="{B67203A9-BE63-43C0-81E0-530CD2E44F8C}" type="presParOf" srcId="{C38DA755-85BF-4B79-A026-6126B294500F}" destId="{F733C62C-0B34-4FB4-A722-6977C0D494CD}" srcOrd="4" destOrd="0" presId="urn:microsoft.com/office/officeart/2008/layout/VerticalCurvedList"/>
    <dgm:cxn modelId="{6AE76210-DA31-4E68-B1AB-430A1CA495F1}" type="presParOf" srcId="{F733C62C-0B34-4FB4-A722-6977C0D494CD}" destId="{FEDF3CB2-DBB2-48AA-84A9-E61BF7F75E45}" srcOrd="0" destOrd="0" presId="urn:microsoft.com/office/officeart/2008/layout/VerticalCurvedList"/>
    <dgm:cxn modelId="{45D44795-93E3-416F-A2E6-61C42AEA5A93}" type="presParOf" srcId="{C38DA755-85BF-4B79-A026-6126B294500F}" destId="{769D3A1E-DDF8-42E6-8667-9CC0D7EE01D9}" srcOrd="5" destOrd="0" presId="urn:microsoft.com/office/officeart/2008/layout/VerticalCurvedList"/>
    <dgm:cxn modelId="{AB868B6F-2129-4597-964A-DE54715F0DFA}" type="presParOf" srcId="{C38DA755-85BF-4B79-A026-6126B294500F}" destId="{04434956-D8D8-446E-97D1-FAE1054D5F48}" srcOrd="6" destOrd="0" presId="urn:microsoft.com/office/officeart/2008/layout/VerticalCurvedList"/>
    <dgm:cxn modelId="{7E80CF65-A0D1-4513-AF83-8C4F9999F957}" type="presParOf" srcId="{04434956-D8D8-446E-97D1-FAE1054D5F48}" destId="{2CD8FA29-D66D-4914-9E4E-D5D843079DB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2171CC-B77C-465E-B2B1-15C5D1521243}">
      <dsp:nvSpPr>
        <dsp:cNvPr id="0" name=""/>
        <dsp:cNvSpPr/>
      </dsp:nvSpPr>
      <dsp:spPr>
        <a:xfrm>
          <a:off x="1302" y="0"/>
          <a:ext cx="3385574" cy="5005260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u="sng" kern="1200" dirty="0"/>
            <a:t>Proposed Solution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b="1" kern="1200" dirty="0"/>
        </a:p>
      </dsp:txBody>
      <dsp:txXfrm>
        <a:off x="1302" y="0"/>
        <a:ext cx="3385574" cy="1501578"/>
      </dsp:txXfrm>
    </dsp:sp>
    <dsp:sp modelId="{773C9DA4-045A-46CC-B59D-BF7B36681E3D}">
      <dsp:nvSpPr>
        <dsp:cNvPr id="0" name=""/>
        <dsp:cNvSpPr/>
      </dsp:nvSpPr>
      <dsp:spPr>
        <a:xfrm>
          <a:off x="128125" y="1039374"/>
          <a:ext cx="3082741" cy="3252717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/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400" b="1" kern="1200" dirty="0"/>
            <a:t>Edge integration</a:t>
          </a:r>
          <a:r>
            <a:rPr lang="en-US" sz="1400" kern="1200" dirty="0"/>
            <a:t>: Raspberry Pi demonstrates real-world capture, ensuring scalability in warehouses or retail.</a:t>
          </a:r>
          <a:endParaRPr lang="en-IN" sz="1400" b="1" kern="1200" dirty="0"/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Scalability</a:t>
          </a:r>
          <a:r>
            <a:rPr lang="en-US" sz="1400" kern="1200" dirty="0"/>
            <a:t>: Laptop/Server-based processing allows handling large datasets; models can later be deployed directly to Raspberry Pi 5 for true edge compliance.</a:t>
          </a:r>
          <a:endParaRPr lang="en-US" sz="1400" b="1" kern="1200" dirty="0"/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User-friendly</a:t>
          </a:r>
          <a:r>
            <a:rPr lang="en-US" sz="1400" kern="1200" dirty="0"/>
            <a:t>: A minimal modern dashboard makes results easy to interpret for inspectors with no technical background.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</dsp:txBody>
      <dsp:txXfrm>
        <a:off x="218415" y="1129664"/>
        <a:ext cx="2902161" cy="3072137"/>
      </dsp:txXfrm>
    </dsp:sp>
    <dsp:sp modelId="{CE6E89F2-1D7D-4EBB-BA56-11C0B381F2C2}">
      <dsp:nvSpPr>
        <dsp:cNvPr id="0" name=""/>
        <dsp:cNvSpPr/>
      </dsp:nvSpPr>
      <dsp:spPr>
        <a:xfrm>
          <a:off x="3640795" y="0"/>
          <a:ext cx="3385574" cy="5005260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u="none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u="sng" kern="1200" dirty="0"/>
            <a:t>Innovation &amp; Uniqueness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b="1" u="none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b="1" u="none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b="1" u="none" kern="1200" dirty="0"/>
        </a:p>
      </dsp:txBody>
      <dsp:txXfrm>
        <a:off x="3640795" y="0"/>
        <a:ext cx="3385574" cy="1501578"/>
      </dsp:txXfrm>
    </dsp:sp>
    <dsp:sp modelId="{56999465-79EE-4E5E-A7DA-D7180568EDA2}">
      <dsp:nvSpPr>
        <dsp:cNvPr id="0" name=""/>
        <dsp:cNvSpPr/>
      </dsp:nvSpPr>
      <dsp:spPr>
        <a:xfrm>
          <a:off x="3776922" y="1048994"/>
          <a:ext cx="3113320" cy="3253419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kern="1200" dirty="0"/>
            <a:t>Edge-Integrated Compliance Capture</a:t>
          </a:r>
          <a:endParaRPr lang="en-IN" sz="1200" kern="1200" dirty="0"/>
        </a:p>
        <a:p>
          <a:pPr marL="0" lvl="0" indent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Unlike existing OCR apps that work only on mobile/PC, our solution integrates a </a:t>
          </a:r>
          <a:r>
            <a:rPr lang="en-US" sz="1200" b="0" kern="1200" dirty="0"/>
            <a:t>Raspberry Pi (or mobile as fallback) </a:t>
          </a:r>
          <a:r>
            <a:rPr lang="en-US" sz="1200" kern="1200" dirty="0"/>
            <a:t>as a dedicated edge capture device.</a:t>
          </a:r>
        </a:p>
        <a:p>
          <a:pPr marL="0" lvl="0" indent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1" kern="1200" dirty="0"/>
            <a:t>Hybrid Architecture (Edge + Central Processing)</a:t>
          </a:r>
          <a:endParaRPr lang="en-US" sz="1200" kern="1200" dirty="0"/>
        </a:p>
        <a:p>
          <a:pPr marL="0" lvl="0" indent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Lightweight capture on Pi + heavy OCR/validation on laptop ensures </a:t>
          </a:r>
          <a:r>
            <a:rPr lang="en-US" sz="1200" b="0" kern="1200" dirty="0"/>
            <a:t>reliability even on low-powered devices.</a:t>
          </a:r>
        </a:p>
        <a:p>
          <a:pPr marL="0" lvl="0" indent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kern="1200" dirty="0"/>
            <a:t>Automated Compliance Scoring &amp; Reports</a:t>
          </a:r>
          <a:endParaRPr lang="en-IN" sz="1200" kern="1200" dirty="0"/>
        </a:p>
        <a:p>
          <a:pPr marL="0" lvl="0" indent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The system doesn’t just say what text was found - it </a:t>
          </a:r>
          <a:r>
            <a:rPr lang="en-US" sz="1200" b="0" kern="1200" dirty="0"/>
            <a:t>flags missing/invalid fields and generates a compliance score </a:t>
          </a:r>
          <a:r>
            <a:rPr lang="en-US" sz="1200" kern="1200" dirty="0"/>
            <a:t>with explanations.</a:t>
          </a:r>
        </a:p>
      </dsp:txBody>
      <dsp:txXfrm>
        <a:off x="3868108" y="1140180"/>
        <a:ext cx="2930948" cy="3071047"/>
      </dsp:txXfrm>
    </dsp:sp>
    <dsp:sp modelId="{A454519C-AAEC-4F36-9258-E77C138DCC0F}">
      <dsp:nvSpPr>
        <dsp:cNvPr id="0" name=""/>
        <dsp:cNvSpPr/>
      </dsp:nvSpPr>
      <dsp:spPr>
        <a:xfrm>
          <a:off x="7280288" y="0"/>
          <a:ext cx="3385574" cy="5005260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u="sng" kern="1200" dirty="0"/>
            <a:t>Solution Approach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b="1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 </a:t>
          </a:r>
          <a:endParaRPr lang="en-IN" sz="2400" b="1" kern="1200" dirty="0"/>
        </a:p>
      </dsp:txBody>
      <dsp:txXfrm>
        <a:off x="7280288" y="0"/>
        <a:ext cx="3385574" cy="1501578"/>
      </dsp:txXfrm>
    </dsp:sp>
    <dsp:sp modelId="{671DF10A-D7DD-4D09-AD66-C008C127CB02}">
      <dsp:nvSpPr>
        <dsp:cNvPr id="0" name=""/>
        <dsp:cNvSpPr/>
      </dsp:nvSpPr>
      <dsp:spPr>
        <a:xfrm>
          <a:off x="7488961" y="1066530"/>
          <a:ext cx="2956744" cy="3253419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just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50" b="1" kern="1200" dirty="0"/>
            <a:t>Edge Capture -</a:t>
          </a:r>
          <a:r>
            <a:rPr lang="en-US" sz="1250" kern="1200" dirty="0"/>
            <a:t> Raspberry Pi (or mobile fallback) captures product label images at source.</a:t>
          </a:r>
        </a:p>
        <a:p>
          <a:pPr marL="0" lvl="0" indent="0" algn="just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50" b="1" kern="1200" dirty="0"/>
            <a:t>Central Processing -</a:t>
          </a:r>
          <a:r>
            <a:rPr lang="en-US" sz="1250" kern="1200" dirty="0"/>
            <a:t> Laptop/Server receives images, handles preprocessing, OCR, and compliance validation.</a:t>
          </a:r>
        </a:p>
        <a:p>
          <a:pPr marL="0" lvl="0" indent="0" algn="just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50" b="1" kern="1200" dirty="0"/>
            <a:t>Preprocessing - </a:t>
          </a:r>
          <a:r>
            <a:rPr lang="en-US" sz="1250" kern="1200" dirty="0"/>
            <a:t>Enhance images (grayscale, thresholding, denoise).</a:t>
          </a:r>
        </a:p>
        <a:p>
          <a:pPr marL="0" lvl="0" indent="0" algn="just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50" b="1" kern="1200" dirty="0"/>
            <a:t>PaddleOCR Lite -</a:t>
          </a:r>
          <a:r>
            <a:rPr lang="en-US" sz="1250" kern="1200" dirty="0"/>
            <a:t> Extract multi-language text efficiently.</a:t>
          </a:r>
        </a:p>
        <a:p>
          <a:pPr marL="0" lvl="0" indent="0" algn="just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50" b="1" kern="1200" dirty="0"/>
            <a:t>Problem Understanding:</a:t>
          </a:r>
          <a:endParaRPr lang="en-IN" sz="1250" kern="1200" dirty="0"/>
        </a:p>
        <a:p>
          <a:pPr marL="0" lvl="0" indent="0" algn="just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50" kern="1200" dirty="0"/>
            <a:t>Manual inspection of product labels for Legal Metrology compliance is time-consuming and error-prone.</a:t>
          </a:r>
          <a:endParaRPr lang="en-IN" sz="1250" kern="1200" dirty="0"/>
        </a:p>
      </dsp:txBody>
      <dsp:txXfrm>
        <a:off x="7575561" y="1153130"/>
        <a:ext cx="2783544" cy="30802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A019C1-E822-43EA-973E-3AD587C7A0E0}">
      <dsp:nvSpPr>
        <dsp:cNvPr id="0" name=""/>
        <dsp:cNvSpPr/>
      </dsp:nvSpPr>
      <dsp:spPr>
        <a:xfrm>
          <a:off x="-5474212" y="-838272"/>
          <a:ext cx="6518824" cy="6518824"/>
        </a:xfrm>
        <a:prstGeom prst="blockArc">
          <a:avLst>
            <a:gd name="adj1" fmla="val 18900000"/>
            <a:gd name="adj2" fmla="val 2700000"/>
            <a:gd name="adj3" fmla="val 331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79612F-240B-4DA0-9427-E0220071006A}">
      <dsp:nvSpPr>
        <dsp:cNvPr id="0" name=""/>
        <dsp:cNvSpPr/>
      </dsp:nvSpPr>
      <dsp:spPr>
        <a:xfrm>
          <a:off x="672108" y="365756"/>
          <a:ext cx="5465623" cy="12053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712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0" lang="en-US" altLang="en-US" sz="1000" b="1" i="0" u="none" strike="noStrike" kern="1200" cap="none" normalizeH="0" baseline="0" dirty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endParaRP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0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Protection of consumers</a:t>
          </a:r>
          <a: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: Guarantees that purchasers always receive correct information, such as MRP, net quantity, and origin.</a:t>
          </a:r>
          <a:b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b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r>
            <a:rPr kumimoji="0" lang="en-US" altLang="en-US" sz="10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Trust and Transparency</a:t>
          </a:r>
          <a: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: Promotes trust in both online and offline purchasing.</a:t>
          </a:r>
          <a:b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b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r>
            <a:rPr kumimoji="0" lang="en-US" altLang="en-US" sz="10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Fair Trade Practices: </a:t>
          </a:r>
          <a: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Lowers the possibility of deceptive packaging leading to exploitation.</a:t>
          </a:r>
          <a:b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endParaRPr lang="en-IN" sz="1000" kern="1200" dirty="0">
            <a:solidFill>
              <a:schemeClr val="bg1"/>
            </a:solidFill>
          </a:endParaRPr>
        </a:p>
      </dsp:txBody>
      <dsp:txXfrm>
        <a:off x="672108" y="365756"/>
        <a:ext cx="5465623" cy="1205398"/>
      </dsp:txXfrm>
    </dsp:sp>
    <dsp:sp modelId="{CEB2FCCB-C1C2-404F-A277-EB97B67F08E6}">
      <dsp:nvSpPr>
        <dsp:cNvPr id="0" name=""/>
        <dsp:cNvSpPr/>
      </dsp:nvSpPr>
      <dsp:spPr>
        <a:xfrm>
          <a:off x="66823" y="363171"/>
          <a:ext cx="1210570" cy="1210570"/>
        </a:xfrm>
        <a:prstGeom prst="ellipse">
          <a:avLst/>
        </a:prstGeom>
        <a:solidFill>
          <a:srgbClr val="EFF698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081BA-CD7C-42D2-AB3D-55EDB6826920}">
      <dsp:nvSpPr>
        <dsp:cNvPr id="0" name=""/>
        <dsp:cNvSpPr/>
      </dsp:nvSpPr>
      <dsp:spPr>
        <a:xfrm>
          <a:off x="1024142" y="1817327"/>
          <a:ext cx="5113589" cy="1207625"/>
        </a:xfrm>
        <a:prstGeom prst="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712" tIns="25400" rIns="25400" bIns="254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0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Reduced Penalties for Businesses: </a:t>
          </a:r>
          <a: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Assists sellers and manufacturers in spotting mistakes early on, preventing penalties.</a:t>
          </a:r>
          <a:b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b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r>
            <a:rPr kumimoji="0" lang="en-US" altLang="en-US" sz="10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Encouragement of E-Commerce Reliability: </a:t>
          </a:r>
          <a: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By ensuring compliant listings, platforms can draw in more clients.</a:t>
          </a:r>
          <a:b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b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r>
            <a:rPr kumimoji="0" lang="en-US" altLang="en-US" sz="10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Efficiency for Regulators: </a:t>
          </a:r>
          <a: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Reduces </a:t>
          </a:r>
          <a:r>
            <a:rPr kumimoji="0" lang="en-US" altLang="en-US" sz="1000" b="0" i="0" u="none" strike="noStrike" kern="1200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labour</a:t>
          </a:r>
          <a:r>
            <a:rPr kumimoji="0" lang="en-US" altLang="en-US" sz="10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costs and expedites enforcement actions.</a:t>
          </a:r>
          <a:endParaRPr lang="en-IN" sz="1000" kern="1200" dirty="0">
            <a:solidFill>
              <a:schemeClr val="bg1"/>
            </a:solidFill>
          </a:endParaRPr>
        </a:p>
      </dsp:txBody>
      <dsp:txXfrm>
        <a:off x="1024142" y="1817327"/>
        <a:ext cx="5113589" cy="1207625"/>
      </dsp:txXfrm>
    </dsp:sp>
    <dsp:sp modelId="{FEDF3CB2-DBB2-48AA-84A9-E61BF7F75E45}">
      <dsp:nvSpPr>
        <dsp:cNvPr id="0" name=""/>
        <dsp:cNvSpPr/>
      </dsp:nvSpPr>
      <dsp:spPr>
        <a:xfrm>
          <a:off x="418857" y="1815855"/>
          <a:ext cx="1210570" cy="1210570"/>
        </a:xfrm>
        <a:prstGeom prst="ellipse">
          <a:avLst/>
        </a:prstGeom>
        <a:solidFill>
          <a:srgbClr val="EFF698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D3A1E-DDF8-42E6-8667-9CC0D7EE01D9}">
      <dsp:nvSpPr>
        <dsp:cNvPr id="0" name=""/>
        <dsp:cNvSpPr/>
      </dsp:nvSpPr>
      <dsp:spPr>
        <a:xfrm>
          <a:off x="672108" y="3303819"/>
          <a:ext cx="5465623" cy="1140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712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Decreased Paperwork: </a:t>
          </a:r>
          <a:r>
            <a:rPr kumimoji="0" lang="en-US" altLang="en-US" sz="11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Digital compliance reports eliminate the need for manual records and paper forms.</a:t>
          </a:r>
          <a:br>
            <a:rPr kumimoji="0" lang="en-US" altLang="en-US" sz="11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br>
            <a:rPr kumimoji="0" lang="en-US" altLang="en-US" sz="11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</a:br>
          <a:r>
            <a:rPr kumimoji="0" lang="en-US" altLang="en-US" sz="11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Reduced Waste: </a:t>
          </a:r>
          <a:r>
            <a:rPr kumimoji="0" lang="en-US" altLang="en-US" sz="11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Reprinting and mass product recalls are avoided by early identification of labelling errors.</a:t>
          </a:r>
        </a:p>
      </dsp:txBody>
      <dsp:txXfrm>
        <a:off x="672108" y="3303819"/>
        <a:ext cx="5465623" cy="1140008"/>
      </dsp:txXfrm>
    </dsp:sp>
    <dsp:sp modelId="{2CD8FA29-D66D-4914-9E4E-D5D843079DB4}">
      <dsp:nvSpPr>
        <dsp:cNvPr id="0" name=""/>
        <dsp:cNvSpPr/>
      </dsp:nvSpPr>
      <dsp:spPr>
        <a:xfrm>
          <a:off x="66823" y="3268539"/>
          <a:ext cx="1210570" cy="1210570"/>
        </a:xfrm>
        <a:prstGeom prst="ellipse">
          <a:avLst/>
        </a:prstGeom>
        <a:solidFill>
          <a:srgbClr val="EFF698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jpg"/><Relationship Id="rId18" Type="http://schemas.openxmlformats.org/officeDocument/2006/relationships/hyperlink" Target="https://openoregon.pressbooks.pub/nutritionscience/chapter/1e-understanding-food-labels/" TargetMode="External"/><Relationship Id="rId26" Type="http://schemas.openxmlformats.org/officeDocument/2006/relationships/image" Target="../media/image19.png"/><Relationship Id="rId39" Type="http://schemas.openxmlformats.org/officeDocument/2006/relationships/image" Target="../media/image27.png"/><Relationship Id="rId21" Type="http://schemas.openxmlformats.org/officeDocument/2006/relationships/image" Target="../media/image16.png"/><Relationship Id="rId34" Type="http://schemas.openxmlformats.org/officeDocument/2006/relationships/image" Target="../media/image24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4.png"/><Relationship Id="rId25" Type="http://schemas.openxmlformats.org/officeDocument/2006/relationships/hyperlink" Target="https://pixabay.com/en/connection-plugs-socket-wire-27383/" TargetMode="External"/><Relationship Id="rId33" Type="http://schemas.openxmlformats.org/officeDocument/2006/relationships/hyperlink" Target="https://www.rawpixel.com/search/policy" TargetMode="External"/><Relationship Id="rId38" Type="http://schemas.openxmlformats.org/officeDocument/2006/relationships/hyperlink" Target="http://dba.stackexchange.com/questions/59406/free-space-of-mdf-and-ldf-does-not-match-with-database-free-space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://www.mauroalfieri.it/elettronica/raspberry-pi-3-model-b.html" TargetMode="External"/><Relationship Id="rId20" Type="http://schemas.openxmlformats.org/officeDocument/2006/relationships/hyperlink" Target="https://pixabay.com/en/diagram-nucleus-atomic-model-atom-38647/" TargetMode="External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18.png"/><Relationship Id="rId32" Type="http://schemas.openxmlformats.org/officeDocument/2006/relationships/image" Target="../media/image23.1"/><Relationship Id="rId37" Type="http://schemas.openxmlformats.org/officeDocument/2006/relationships/image" Target="../media/image26.png"/><Relationship Id="rId40" Type="http://schemas.openxmlformats.org/officeDocument/2006/relationships/hyperlink" Target="https://openclipart.org/detail/25697/fwd__bubble_hand_drawn-by-rejon-177666" TargetMode="External"/><Relationship Id="rId5" Type="http://schemas.openxmlformats.org/officeDocument/2006/relationships/image" Target="../media/image4.png"/><Relationship Id="rId15" Type="http://schemas.openxmlformats.org/officeDocument/2006/relationships/image" Target="../media/image13.jpg"/><Relationship Id="rId23" Type="http://schemas.openxmlformats.org/officeDocument/2006/relationships/hyperlink" Target="https://svgsilh.com/image/2026328.html" TargetMode="External"/><Relationship Id="rId28" Type="http://schemas.openxmlformats.org/officeDocument/2006/relationships/hyperlink" Target="https://svgsilh.com/9c27b0/image/24841.html" TargetMode="External"/><Relationship Id="rId36" Type="http://schemas.openxmlformats.org/officeDocument/2006/relationships/hyperlink" Target="https://svgsilh.com/image/1712992.html" TargetMode="External"/><Relationship Id="rId10" Type="http://schemas.openxmlformats.org/officeDocument/2006/relationships/image" Target="../media/image9.png"/><Relationship Id="rId19" Type="http://schemas.openxmlformats.org/officeDocument/2006/relationships/image" Target="../media/image15.png"/><Relationship Id="rId31" Type="http://schemas.openxmlformats.org/officeDocument/2006/relationships/hyperlink" Target="https://svgsilh.com/03a9f4/image/304167.html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hyperlink" Target="https://simple.wikipedia.org/wiki/Barcode_reader" TargetMode="External"/><Relationship Id="rId22" Type="http://schemas.openxmlformats.org/officeDocument/2006/relationships/image" Target="../media/image17.svg"/><Relationship Id="rId27" Type="http://schemas.openxmlformats.org/officeDocument/2006/relationships/image" Target="../media/image20.svg"/><Relationship Id="rId30" Type="http://schemas.openxmlformats.org/officeDocument/2006/relationships/image" Target="../media/image22.svg"/><Relationship Id="rId35" Type="http://schemas.openxmlformats.org/officeDocument/2006/relationships/image" Target="../media/image25.sv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dx.doi.org/10.48550/arXiv.2505.20429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rive.google.com/file/d/1xZBV24YyIomgg2tUYEdKR6PDo58ja7EX/view?usp=drive_lin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x.doi.org/10.21275/SR25603211507" TargetMode="External"/><Relationship Id="rId11" Type="http://schemas.openxmlformats.org/officeDocument/2006/relationships/hyperlink" Target="http://dx.doi.org/10.48550/arXiv.2308.13173" TargetMode="External"/><Relationship Id="rId5" Type="http://schemas.openxmlformats.org/officeDocument/2006/relationships/hyperlink" Target="https://drive.google.com/file/d/1wEFp7mydd5Igp0nMkjoayqNrG63ZHNBb/view?usp=drive_link" TargetMode="External"/><Relationship Id="rId10" Type="http://schemas.openxmlformats.org/officeDocument/2006/relationships/hyperlink" Target="http://dx.doi.org/10.51983/ijiss-2025.IJISS.15.2.12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drive.google.com/file/d/1GPlCDGIr6VxEA8y-TfS8qyQbpejsiigM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231711"/>
            <a:ext cx="11567344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25057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Automated Compliance Checker for Legal Metrology Declarations on E-Commerce Platforms.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 - </a:t>
            </a:r>
            <a:r>
              <a:rPr lang="en-IN" sz="2400" b="1" dirty="0" err="1"/>
              <a:t>Astricks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89395" y="181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Regulense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: Package Compliance Checker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881E31-A773-3DEC-ACA4-F8E27D80BF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378" t="15996" r="18397" b="20950"/>
          <a:stretch>
            <a:fillRect/>
          </a:stretch>
        </p:blipFill>
        <p:spPr>
          <a:xfrm>
            <a:off x="89395" y="116656"/>
            <a:ext cx="988291" cy="1001455"/>
          </a:xfrm>
          <a:prstGeom prst="rect">
            <a:avLst/>
          </a:prstGeom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DBBDC6D3-68B1-A6A4-5774-0EA7B6B498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1853085"/>
              </p:ext>
            </p:extLst>
          </p:nvPr>
        </p:nvGraphicFramePr>
        <p:xfrm>
          <a:off x="762416" y="1191373"/>
          <a:ext cx="10667165" cy="5005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46890" y="-17264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5990" y="-3265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7B437B6-8CCA-E7C5-288E-B6B19D0F08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378" t="15996" r="18397" b="20950"/>
          <a:stretch>
            <a:fillRect/>
          </a:stretch>
        </p:blipFill>
        <p:spPr>
          <a:xfrm>
            <a:off x="0" y="-3645"/>
            <a:ext cx="988291" cy="1001455"/>
          </a:xfrm>
          <a:prstGeom prst="rect">
            <a:avLst/>
          </a:prstGeom>
        </p:spPr>
      </p:pic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538839D7-B6BC-705B-1AB3-4344333677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90" y="986613"/>
            <a:ext cx="8716834" cy="347455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C2E6FD61-BD99-5263-BFBD-70E35B76FF5A}"/>
              </a:ext>
            </a:extLst>
          </p:cNvPr>
          <p:cNvSpPr/>
          <p:nvPr/>
        </p:nvSpPr>
        <p:spPr>
          <a:xfrm>
            <a:off x="8912106" y="970357"/>
            <a:ext cx="3249628" cy="5238801"/>
          </a:xfrm>
          <a:prstGeom prst="snip2DiagRect">
            <a:avLst>
              <a:gd name="adj1" fmla="val 0"/>
              <a:gd name="adj2" fmla="val 13921"/>
            </a:avLst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IN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EB74F7-0FDC-8D58-BD38-96EBA911E6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0056" b="12536"/>
          <a:stretch>
            <a:fillRect/>
          </a:stretch>
        </p:blipFill>
        <p:spPr>
          <a:xfrm>
            <a:off x="692623" y="4499167"/>
            <a:ext cx="536861" cy="5749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779508-28A9-BADE-A086-5DD2BFA4E8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2367" y="4527836"/>
            <a:ext cx="637636" cy="5119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B59C199-9283-04CE-FBC9-6785DDDB20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886" y="4421629"/>
            <a:ext cx="536861" cy="6524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5B4E8C8-D863-BAC8-5180-175DB8CF34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2630" y="4505334"/>
            <a:ext cx="536861" cy="55691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169B45-6F65-05FD-35BB-A9056FBBE7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5981" y="4421629"/>
            <a:ext cx="681183" cy="6615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3510D6-B06D-68B5-6598-2E50A7B6E3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2374" y="4447647"/>
            <a:ext cx="681182" cy="63494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BABDDA4-4769-06E6-415A-151B0EBEA3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56100" y="4503295"/>
            <a:ext cx="719512" cy="51133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966CBD69-717A-9C2E-821B-1593BC5CCCAD}"/>
              </a:ext>
            </a:extLst>
          </p:cNvPr>
          <p:cNvSpPr/>
          <p:nvPr/>
        </p:nvSpPr>
        <p:spPr>
          <a:xfrm>
            <a:off x="146890" y="5219723"/>
            <a:ext cx="8644981" cy="45719"/>
          </a:xfrm>
          <a:prstGeom prst="rect">
            <a:avLst/>
          </a:prstGeom>
          <a:solidFill>
            <a:srgbClr val="FFFF6D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A92DCB6-2CAF-A4D2-16AF-414A50A57A4F}"/>
              </a:ext>
            </a:extLst>
          </p:cNvPr>
          <p:cNvSpPr/>
          <p:nvPr/>
        </p:nvSpPr>
        <p:spPr>
          <a:xfrm>
            <a:off x="1034544" y="5020639"/>
            <a:ext cx="418214" cy="38902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F5972DD-46C0-8C12-FD81-8BB123DE1595}"/>
              </a:ext>
            </a:extLst>
          </p:cNvPr>
          <p:cNvSpPr/>
          <p:nvPr/>
        </p:nvSpPr>
        <p:spPr>
          <a:xfrm>
            <a:off x="6268889" y="5018951"/>
            <a:ext cx="418214" cy="38902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B2EFCDB-D330-E764-CEB3-EC42A84B2E38}"/>
              </a:ext>
            </a:extLst>
          </p:cNvPr>
          <p:cNvSpPr/>
          <p:nvPr/>
        </p:nvSpPr>
        <p:spPr>
          <a:xfrm>
            <a:off x="3733591" y="5020639"/>
            <a:ext cx="418214" cy="38902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AD5BCA2-4F8C-8886-5082-44BC0DFCF9DC}"/>
              </a:ext>
            </a:extLst>
          </p:cNvPr>
          <p:cNvSpPr/>
          <p:nvPr/>
        </p:nvSpPr>
        <p:spPr>
          <a:xfrm>
            <a:off x="4870716" y="5002997"/>
            <a:ext cx="418214" cy="38902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AC93118-1E3C-F6FB-3386-5EECED39B462}"/>
              </a:ext>
            </a:extLst>
          </p:cNvPr>
          <p:cNvSpPr/>
          <p:nvPr/>
        </p:nvSpPr>
        <p:spPr>
          <a:xfrm>
            <a:off x="2326319" y="5025212"/>
            <a:ext cx="418214" cy="38902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43" name="Frame 42">
            <a:extLst>
              <a:ext uri="{FF2B5EF4-FFF2-40B4-BE49-F238E27FC236}">
                <a16:creationId xmlns:a16="http://schemas.microsoft.com/office/drawing/2014/main" id="{84DF22C4-3488-8D06-1977-652E8DBFCB5D}"/>
              </a:ext>
            </a:extLst>
          </p:cNvPr>
          <p:cNvSpPr/>
          <p:nvPr/>
        </p:nvSpPr>
        <p:spPr>
          <a:xfrm>
            <a:off x="615932" y="5431193"/>
            <a:ext cx="1235952" cy="879387"/>
          </a:xfrm>
          <a:prstGeom prst="frame">
            <a:avLst>
              <a:gd name="adj1" fmla="val 3515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endParaRPr lang="en-US" sz="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endParaRPr lang="en-US" sz="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endParaRPr lang="en-US" sz="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endParaRPr lang="en-US" sz="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Product photos from 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e-commerce &amp; Field Scanner</a:t>
            </a:r>
            <a:endParaRPr lang="en-IN" sz="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4" name="Frame 43">
            <a:extLst>
              <a:ext uri="{FF2B5EF4-FFF2-40B4-BE49-F238E27FC236}">
                <a16:creationId xmlns:a16="http://schemas.microsoft.com/office/drawing/2014/main" id="{B6B3D9B6-A17E-F359-DFEA-CAA28D1F1C56}"/>
              </a:ext>
            </a:extLst>
          </p:cNvPr>
          <p:cNvSpPr/>
          <p:nvPr/>
        </p:nvSpPr>
        <p:spPr>
          <a:xfrm>
            <a:off x="1963791" y="5437667"/>
            <a:ext cx="1235952" cy="879387"/>
          </a:xfrm>
          <a:prstGeom prst="frame">
            <a:avLst>
              <a:gd name="adj1" fmla="val 3515"/>
            </a:avLst>
          </a:prstGeom>
          <a:solidFill>
            <a:srgbClr val="2F7F9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700" dirty="0">
              <a:solidFill>
                <a:schemeClr val="tx1"/>
              </a:solidFill>
            </a:endParaRPr>
          </a:p>
          <a:p>
            <a:pPr algn="ctr"/>
            <a:endParaRPr lang="en-IN" sz="700" dirty="0">
              <a:solidFill>
                <a:schemeClr val="tx1"/>
              </a:solidFill>
            </a:endParaRPr>
          </a:p>
          <a:p>
            <a:pPr algn="ctr"/>
            <a:endParaRPr lang="en-IN" sz="700" dirty="0">
              <a:solidFill>
                <a:schemeClr val="tx1"/>
              </a:solidFill>
            </a:endParaRPr>
          </a:p>
          <a:p>
            <a:pPr algn="ctr"/>
            <a:r>
              <a:rPr lang="en-IN" sz="700" dirty="0">
                <a:solidFill>
                  <a:schemeClr val="tx1"/>
                </a:solidFill>
              </a:rPr>
              <a:t>                                    </a:t>
            </a:r>
            <a:r>
              <a:rPr lang="en-IN" sz="500" dirty="0">
                <a:solidFill>
                  <a:schemeClr val="tx1"/>
                </a:solidFill>
              </a:rPr>
              <a:t>missing?</a:t>
            </a:r>
          </a:p>
          <a:p>
            <a:pPr algn="ctr"/>
            <a:endParaRPr lang="en-IN" sz="700" dirty="0">
              <a:solidFill>
                <a:schemeClr val="tx1"/>
              </a:solidFill>
            </a:endParaRPr>
          </a:p>
          <a:p>
            <a:pPr algn="ctr"/>
            <a:r>
              <a:rPr lang="en-IN" sz="700" dirty="0">
                <a:solidFill>
                  <a:schemeClr val="tx1"/>
                </a:solidFill>
              </a:rPr>
              <a:t>Extracts text from images; multi-language support</a:t>
            </a:r>
          </a:p>
        </p:txBody>
      </p:sp>
      <p:sp>
        <p:nvSpPr>
          <p:cNvPr id="45" name="Frame 44">
            <a:extLst>
              <a:ext uri="{FF2B5EF4-FFF2-40B4-BE49-F238E27FC236}">
                <a16:creationId xmlns:a16="http://schemas.microsoft.com/office/drawing/2014/main" id="{2154CD59-6311-C36E-ED13-096100E1A0E8}"/>
              </a:ext>
            </a:extLst>
          </p:cNvPr>
          <p:cNvSpPr/>
          <p:nvPr/>
        </p:nvSpPr>
        <p:spPr>
          <a:xfrm>
            <a:off x="3317379" y="5431192"/>
            <a:ext cx="1235952" cy="879387"/>
          </a:xfrm>
          <a:prstGeom prst="frame">
            <a:avLst>
              <a:gd name="adj1" fmla="val 4149"/>
            </a:avLst>
          </a:prstGeom>
          <a:solidFill>
            <a:srgbClr val="50AEC8"/>
          </a:solidFill>
          <a:ln>
            <a:solidFill>
              <a:srgbClr val="5DB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endParaRPr lang="en-US" sz="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endParaRPr lang="en-US" sz="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endParaRPr lang="en-US" sz="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endParaRPr lang="en-US" sz="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Checks text against Legal Metrology Rules (MRP, Net Qty, Origin, etc.)</a:t>
            </a:r>
            <a:endParaRPr lang="en-IN" sz="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6" name="Frame 45">
            <a:extLst>
              <a:ext uri="{FF2B5EF4-FFF2-40B4-BE49-F238E27FC236}">
                <a16:creationId xmlns:a16="http://schemas.microsoft.com/office/drawing/2014/main" id="{AF820000-EFE9-8B85-0BD4-4F3BFEC78090}"/>
              </a:ext>
            </a:extLst>
          </p:cNvPr>
          <p:cNvSpPr/>
          <p:nvPr/>
        </p:nvSpPr>
        <p:spPr>
          <a:xfrm>
            <a:off x="4629265" y="5429727"/>
            <a:ext cx="1235952" cy="879387"/>
          </a:xfrm>
          <a:prstGeom prst="frame">
            <a:avLst>
              <a:gd name="adj1" fmla="val 4783"/>
            </a:avLst>
          </a:prstGeom>
          <a:solidFill>
            <a:srgbClr val="83C5D7"/>
          </a:solidFill>
          <a:ln>
            <a:solidFill>
              <a:srgbClr val="83C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Secure database; stores results, regulations, violations, and evidence</a:t>
            </a:r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47" name="Frame 46">
            <a:extLst>
              <a:ext uri="{FF2B5EF4-FFF2-40B4-BE49-F238E27FC236}">
                <a16:creationId xmlns:a16="http://schemas.microsoft.com/office/drawing/2014/main" id="{91C23A9E-809B-C932-4073-AAA32D4B6A02}"/>
              </a:ext>
            </a:extLst>
          </p:cNvPr>
          <p:cNvSpPr/>
          <p:nvPr/>
        </p:nvSpPr>
        <p:spPr>
          <a:xfrm>
            <a:off x="5927414" y="5433176"/>
            <a:ext cx="1235952" cy="879387"/>
          </a:xfrm>
          <a:prstGeom prst="frame">
            <a:avLst>
              <a:gd name="adj1" fmla="val 4149"/>
            </a:avLst>
          </a:prstGeom>
          <a:solidFill>
            <a:srgbClr val="ACD8E6"/>
          </a:solidFill>
          <a:ln>
            <a:solidFill>
              <a:srgbClr val="AC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endParaRPr lang="en-US" sz="600" dirty="0">
              <a:solidFill>
                <a:schemeClr val="tx1"/>
              </a:solidFill>
            </a:endParaRPr>
          </a:p>
          <a:p>
            <a:r>
              <a:rPr lang="en-US" sz="600" dirty="0">
                <a:solidFill>
                  <a:schemeClr val="tx1"/>
                </a:solidFill>
              </a:rPr>
              <a:t>Visual dashboard for regulator; </a:t>
            </a:r>
          </a:p>
          <a:p>
            <a:r>
              <a:rPr lang="en-US" sz="600" dirty="0">
                <a:solidFill>
                  <a:schemeClr val="tx1"/>
                </a:solidFill>
              </a:rPr>
              <a:t>expertable violation reports</a:t>
            </a:r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FF0BA655-28FB-D622-0DF2-4AB013F8494A}"/>
              </a:ext>
            </a:extLst>
          </p:cNvPr>
          <p:cNvSpPr/>
          <p:nvPr/>
        </p:nvSpPr>
        <p:spPr>
          <a:xfrm rot="5400000">
            <a:off x="8577878" y="5102109"/>
            <a:ext cx="313314" cy="280947"/>
          </a:xfrm>
          <a:prstGeom prst="triangle">
            <a:avLst/>
          </a:prstGeom>
          <a:solidFill>
            <a:srgbClr val="FFFF6D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732A8E5-EE46-D5FA-9A70-9D65657D7B28}"/>
              </a:ext>
            </a:extLst>
          </p:cNvPr>
          <p:cNvSpPr/>
          <p:nvPr/>
        </p:nvSpPr>
        <p:spPr>
          <a:xfrm>
            <a:off x="7647641" y="5018951"/>
            <a:ext cx="418214" cy="38902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IN" dirty="0"/>
          </a:p>
        </p:txBody>
      </p:sp>
      <p:sp>
        <p:nvSpPr>
          <p:cNvPr id="50" name="Frame 49">
            <a:extLst>
              <a:ext uri="{FF2B5EF4-FFF2-40B4-BE49-F238E27FC236}">
                <a16:creationId xmlns:a16="http://schemas.microsoft.com/office/drawing/2014/main" id="{414F5805-1966-783F-FBFC-712422983846}"/>
              </a:ext>
            </a:extLst>
          </p:cNvPr>
          <p:cNvSpPr/>
          <p:nvPr/>
        </p:nvSpPr>
        <p:spPr>
          <a:xfrm>
            <a:off x="7231460" y="5433253"/>
            <a:ext cx="1235952" cy="879387"/>
          </a:xfrm>
          <a:prstGeom prst="frame">
            <a:avLst>
              <a:gd name="adj1" fmla="val 4149"/>
            </a:avLst>
          </a:prstGeom>
          <a:solidFill>
            <a:srgbClr val="EDF6F9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endParaRPr lang="en-US" sz="600" dirty="0">
              <a:solidFill>
                <a:schemeClr val="tx1"/>
              </a:solidFill>
            </a:endParaRPr>
          </a:p>
          <a:p>
            <a:pPr algn="ctr"/>
            <a:r>
              <a:rPr lang="en-US" sz="600" dirty="0">
                <a:solidFill>
                  <a:schemeClr val="tx1"/>
                </a:solidFill>
              </a:rPr>
              <a:t>Validation &amp; testing; scalability, feasibility Govt. integration</a:t>
            </a:r>
            <a:endParaRPr lang="en-IN" sz="600" dirty="0">
              <a:solidFill>
                <a:schemeClr val="tx1"/>
              </a:solidFill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F7CB065-B65F-F0F4-4E40-FD048836CA0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 flipH="1">
            <a:off x="1230179" y="5600968"/>
            <a:ext cx="200267" cy="22393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CCF7B43-7B9D-B8AC-1E3C-94A64A82FE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675522" y="5616762"/>
            <a:ext cx="445739" cy="297343"/>
          </a:xfrm>
          <a:prstGeom prst="rect">
            <a:avLst/>
          </a:prstGeom>
        </p:spPr>
      </p:pic>
      <p:sp>
        <p:nvSpPr>
          <p:cNvPr id="61" name="Arc 60">
            <a:extLst>
              <a:ext uri="{FF2B5EF4-FFF2-40B4-BE49-F238E27FC236}">
                <a16:creationId xmlns:a16="http://schemas.microsoft.com/office/drawing/2014/main" id="{2548B4C4-BF6F-805E-9F50-F845E11D6F12}"/>
              </a:ext>
            </a:extLst>
          </p:cNvPr>
          <p:cNvSpPr/>
          <p:nvPr/>
        </p:nvSpPr>
        <p:spPr>
          <a:xfrm rot="8162022">
            <a:off x="876397" y="5585874"/>
            <a:ext cx="476828" cy="343084"/>
          </a:xfrm>
          <a:prstGeom prst="arc">
            <a:avLst>
              <a:gd name="adj1" fmla="val 14779975"/>
              <a:gd name="adj2" fmla="val 94274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BCEF0D32-095B-C2D6-2911-37A9462E326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837473B0-CC2E-450A-ABE3-18F120FF3D39}">
                <a1611:picAttrSrcUrl xmlns:a1611="http://schemas.microsoft.com/office/drawing/2016/11/main" r:id="rId18"/>
              </a:ext>
            </a:extLst>
          </a:blip>
          <a:srcRect r="47027"/>
          <a:stretch>
            <a:fillRect/>
          </a:stretch>
        </p:blipFill>
        <p:spPr>
          <a:xfrm>
            <a:off x="2067611" y="5506698"/>
            <a:ext cx="242986" cy="517470"/>
          </a:xfrm>
          <a:prstGeom prst="rect">
            <a:avLst/>
          </a:prstGeom>
        </p:spPr>
      </p:pic>
      <p:sp>
        <p:nvSpPr>
          <p:cNvPr id="2049" name="Arc 2048">
            <a:extLst>
              <a:ext uri="{FF2B5EF4-FFF2-40B4-BE49-F238E27FC236}">
                <a16:creationId xmlns:a16="http://schemas.microsoft.com/office/drawing/2014/main" id="{45F3C9B7-C999-6281-91B2-5CC759A183EE}"/>
              </a:ext>
            </a:extLst>
          </p:cNvPr>
          <p:cNvSpPr/>
          <p:nvPr/>
        </p:nvSpPr>
        <p:spPr>
          <a:xfrm rot="16829487">
            <a:off x="1251716" y="5642279"/>
            <a:ext cx="476828" cy="343084"/>
          </a:xfrm>
          <a:prstGeom prst="arc">
            <a:avLst>
              <a:gd name="adj1" fmla="val 19144503"/>
              <a:gd name="adj2" fmla="val 1750182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1" name="Picture 2050">
            <a:extLst>
              <a:ext uri="{FF2B5EF4-FFF2-40B4-BE49-F238E27FC236}">
                <a16:creationId xmlns:a16="http://schemas.microsoft.com/office/drawing/2014/main" id="{283F6EE4-341F-FD2A-5F31-6297717C334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837473B0-CC2E-450A-ABE3-18F120FF3D39}">
                <a1611:picAttrSrcUrl xmlns:a1611="http://schemas.microsoft.com/office/drawing/2016/11/main" r:id="rId18"/>
              </a:ext>
            </a:extLst>
          </a:blip>
          <a:srcRect l="1" t="35403" r="50401"/>
          <a:stretch>
            <a:fillRect/>
          </a:stretch>
        </p:blipFill>
        <p:spPr>
          <a:xfrm>
            <a:off x="2497217" y="5503025"/>
            <a:ext cx="346282" cy="508779"/>
          </a:xfrm>
          <a:prstGeom prst="rect">
            <a:avLst/>
          </a:prstGeom>
        </p:spPr>
      </p:pic>
      <p:cxnSp>
        <p:nvCxnSpPr>
          <p:cNvPr id="2054" name="Straight Connector 2053">
            <a:extLst>
              <a:ext uri="{FF2B5EF4-FFF2-40B4-BE49-F238E27FC236}">
                <a16:creationId xmlns:a16="http://schemas.microsoft.com/office/drawing/2014/main" id="{096DF49B-55E7-5F14-0EE6-4498F8473B45}"/>
              </a:ext>
            </a:extLst>
          </p:cNvPr>
          <p:cNvCxnSpPr>
            <a:cxnSpLocks/>
          </p:cNvCxnSpPr>
          <p:nvPr/>
        </p:nvCxnSpPr>
        <p:spPr>
          <a:xfrm flipV="1">
            <a:off x="2339439" y="5685933"/>
            <a:ext cx="168204" cy="16629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7" name="Picture 2056">
            <a:extLst>
              <a:ext uri="{FF2B5EF4-FFF2-40B4-BE49-F238E27FC236}">
                <a16:creationId xmlns:a16="http://schemas.microsoft.com/office/drawing/2014/main" id="{41C6228B-6CCA-CEF6-125B-B887AB80C77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837473B0-CC2E-450A-ABE3-18F120FF3D39}">
                <a1611:picAttrSrcUrl xmlns:a1611="http://schemas.microsoft.com/office/drawing/2016/11/main" r:id="rId18"/>
              </a:ext>
            </a:extLst>
          </a:blip>
          <a:srcRect l="9417" r="57647" b="66753"/>
          <a:stretch>
            <a:fillRect/>
          </a:stretch>
        </p:blipFill>
        <p:spPr>
          <a:xfrm>
            <a:off x="1502823" y="5643700"/>
            <a:ext cx="251737" cy="286676"/>
          </a:xfrm>
          <a:prstGeom prst="rect">
            <a:avLst/>
          </a:prstGeom>
        </p:spPr>
      </p:pic>
      <p:sp>
        <p:nvSpPr>
          <p:cNvPr id="2058" name="TextBox 2057">
            <a:extLst>
              <a:ext uri="{FF2B5EF4-FFF2-40B4-BE49-F238E27FC236}">
                <a16:creationId xmlns:a16="http://schemas.microsoft.com/office/drawing/2014/main" id="{19E5D595-39F9-2B51-3F5C-2F1237A7AAE8}"/>
              </a:ext>
            </a:extLst>
          </p:cNvPr>
          <p:cNvSpPr txBox="1"/>
          <p:nvPr/>
        </p:nvSpPr>
        <p:spPr>
          <a:xfrm>
            <a:off x="278511" y="5047823"/>
            <a:ext cx="969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rgbClr val="C00000"/>
                </a:solidFill>
              </a:rPr>
              <a:t>Image Capture</a:t>
            </a:r>
          </a:p>
        </p:txBody>
      </p:sp>
      <p:sp>
        <p:nvSpPr>
          <p:cNvPr id="2059" name="TextBox 2058">
            <a:extLst>
              <a:ext uri="{FF2B5EF4-FFF2-40B4-BE49-F238E27FC236}">
                <a16:creationId xmlns:a16="http://schemas.microsoft.com/office/drawing/2014/main" id="{53A89497-FD25-99B5-A8EF-482E86B38DD7}"/>
              </a:ext>
            </a:extLst>
          </p:cNvPr>
          <p:cNvSpPr txBox="1"/>
          <p:nvPr/>
        </p:nvSpPr>
        <p:spPr>
          <a:xfrm>
            <a:off x="1509249" y="5048972"/>
            <a:ext cx="9408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rgbClr val="C00000"/>
                </a:solidFill>
              </a:rPr>
              <a:t>Text Extraction</a:t>
            </a:r>
          </a:p>
        </p:txBody>
      </p:sp>
      <p:sp>
        <p:nvSpPr>
          <p:cNvPr id="2060" name="TextBox 2059">
            <a:extLst>
              <a:ext uri="{FF2B5EF4-FFF2-40B4-BE49-F238E27FC236}">
                <a16:creationId xmlns:a16="http://schemas.microsoft.com/office/drawing/2014/main" id="{75319EF0-0B15-E7FD-D5A7-8FB8D86A6523}"/>
              </a:ext>
            </a:extLst>
          </p:cNvPr>
          <p:cNvSpPr txBox="1"/>
          <p:nvPr/>
        </p:nvSpPr>
        <p:spPr>
          <a:xfrm>
            <a:off x="2676470" y="5051472"/>
            <a:ext cx="11671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rgbClr val="C00000"/>
                </a:solidFill>
              </a:rPr>
              <a:t>Rule Engine Validation</a:t>
            </a: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17116CAC-4F15-EE02-6511-7FFC3A162F4F}"/>
              </a:ext>
            </a:extLst>
          </p:cNvPr>
          <p:cNvSpPr txBox="1"/>
          <p:nvPr/>
        </p:nvSpPr>
        <p:spPr>
          <a:xfrm>
            <a:off x="4134826" y="5046894"/>
            <a:ext cx="92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rgbClr val="C00000"/>
                </a:solidFill>
              </a:rPr>
              <a:t>Data Storage</a:t>
            </a:r>
          </a:p>
        </p:txBody>
      </p:sp>
      <p:sp>
        <p:nvSpPr>
          <p:cNvPr id="2062" name="TextBox 2061">
            <a:extLst>
              <a:ext uri="{FF2B5EF4-FFF2-40B4-BE49-F238E27FC236}">
                <a16:creationId xmlns:a16="http://schemas.microsoft.com/office/drawing/2014/main" id="{822A3BF4-F6C8-B0CC-FD8C-480883AE206A}"/>
              </a:ext>
            </a:extLst>
          </p:cNvPr>
          <p:cNvSpPr txBox="1"/>
          <p:nvPr/>
        </p:nvSpPr>
        <p:spPr>
          <a:xfrm>
            <a:off x="5241144" y="5035402"/>
            <a:ext cx="12199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rgbClr val="C00000"/>
                </a:solidFill>
              </a:rPr>
              <a:t>Dashboard Reporting</a:t>
            </a:r>
          </a:p>
        </p:txBody>
      </p:sp>
      <p:sp>
        <p:nvSpPr>
          <p:cNvPr id="2063" name="TextBox 2062">
            <a:extLst>
              <a:ext uri="{FF2B5EF4-FFF2-40B4-BE49-F238E27FC236}">
                <a16:creationId xmlns:a16="http://schemas.microsoft.com/office/drawing/2014/main" id="{B6020011-7FB0-AC88-6E60-976398CD67D9}"/>
              </a:ext>
            </a:extLst>
          </p:cNvPr>
          <p:cNvSpPr txBox="1"/>
          <p:nvPr/>
        </p:nvSpPr>
        <p:spPr>
          <a:xfrm>
            <a:off x="6603522" y="5040361"/>
            <a:ext cx="14584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rgbClr val="C00000"/>
                </a:solidFill>
              </a:rPr>
              <a:t>Testing &amp; Deployment</a:t>
            </a:r>
          </a:p>
        </p:txBody>
      </p:sp>
      <p:pic>
        <p:nvPicPr>
          <p:cNvPr id="2065" name="Picture 2064">
            <a:extLst>
              <a:ext uri="{FF2B5EF4-FFF2-40B4-BE49-F238E27FC236}">
                <a16:creationId xmlns:a16="http://schemas.microsoft.com/office/drawing/2014/main" id="{13BAC0BC-3EA2-8EF2-A7AF-804890BF6B3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837473B0-CC2E-450A-ABE3-18F120FF3D39}">
                <a1611:picAttrSrcUrl xmlns:a1611="http://schemas.microsoft.com/office/drawing/2016/11/main" r:id="rId20"/>
              </a:ext>
            </a:extLst>
          </a:blip>
          <a:stretch>
            <a:fillRect/>
          </a:stretch>
        </p:blipFill>
        <p:spPr>
          <a:xfrm>
            <a:off x="5968153" y="5475562"/>
            <a:ext cx="1154474" cy="592968"/>
          </a:xfrm>
          <a:prstGeom prst="rect">
            <a:avLst/>
          </a:prstGeom>
        </p:spPr>
      </p:pic>
      <p:pic>
        <p:nvPicPr>
          <p:cNvPr id="2067" name="Graphic 2066">
            <a:extLst>
              <a:ext uri="{FF2B5EF4-FFF2-40B4-BE49-F238E27FC236}">
                <a16:creationId xmlns:a16="http://schemas.microsoft.com/office/drawing/2014/main" id="{12BE4D4E-D029-BC07-0B11-F8360300EF7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  <a:ext uri="{837473B0-CC2E-450A-ABE3-18F120FF3D39}">
                <a1611:picAttrSrcUrl xmlns:a1611="http://schemas.microsoft.com/office/drawing/2016/11/main" r:id="rId23"/>
              </a:ext>
            </a:extLst>
          </a:blip>
          <a:srcRect l="1" r="3913" b="44485"/>
          <a:stretch>
            <a:fillRect/>
          </a:stretch>
        </p:blipFill>
        <p:spPr>
          <a:xfrm>
            <a:off x="7288666" y="5483154"/>
            <a:ext cx="1136163" cy="563245"/>
          </a:xfrm>
          <a:prstGeom prst="rect">
            <a:avLst/>
          </a:prstGeom>
        </p:spPr>
      </p:pic>
      <p:pic>
        <p:nvPicPr>
          <p:cNvPr id="2069" name="Picture 2068">
            <a:extLst>
              <a:ext uri="{FF2B5EF4-FFF2-40B4-BE49-F238E27FC236}">
                <a16:creationId xmlns:a16="http://schemas.microsoft.com/office/drawing/2014/main" id="{7D8734EB-47F0-1789-A326-4194787EF02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837473B0-CC2E-450A-ABE3-18F120FF3D39}">
                <a1611:picAttrSrcUrl xmlns:a1611="http://schemas.microsoft.com/office/drawing/2016/11/main" r:id="rId25"/>
              </a:ext>
            </a:extLst>
          </a:blip>
          <a:stretch>
            <a:fillRect/>
          </a:stretch>
        </p:blipFill>
        <p:spPr>
          <a:xfrm>
            <a:off x="7275996" y="5488674"/>
            <a:ext cx="299312" cy="311874"/>
          </a:xfrm>
          <a:prstGeom prst="rect">
            <a:avLst/>
          </a:prstGeom>
        </p:spPr>
      </p:pic>
      <p:pic>
        <p:nvPicPr>
          <p:cNvPr id="2073" name="Graphic 2072">
            <a:extLst>
              <a:ext uri="{FF2B5EF4-FFF2-40B4-BE49-F238E27FC236}">
                <a16:creationId xmlns:a16="http://schemas.microsoft.com/office/drawing/2014/main" id="{EBFFE51D-1987-739E-4488-5EC45734EC4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  <a:ext uri="{837473B0-CC2E-450A-ABE3-18F120FF3D39}">
                <a1611:picAttrSrcUrl xmlns:a1611="http://schemas.microsoft.com/office/drawing/2016/11/main" r:id="rId28"/>
              </a:ext>
            </a:extLst>
          </a:blip>
          <a:stretch>
            <a:fillRect/>
          </a:stretch>
        </p:blipFill>
        <p:spPr>
          <a:xfrm>
            <a:off x="8101368" y="5534883"/>
            <a:ext cx="185008" cy="162681"/>
          </a:xfrm>
          <a:prstGeom prst="rect">
            <a:avLst/>
          </a:prstGeom>
        </p:spPr>
      </p:pic>
      <p:pic>
        <p:nvPicPr>
          <p:cNvPr id="2075" name="Graphic 2074">
            <a:extLst>
              <a:ext uri="{FF2B5EF4-FFF2-40B4-BE49-F238E27FC236}">
                <a16:creationId xmlns:a16="http://schemas.microsoft.com/office/drawing/2014/main" id="{F01CA4F7-C18C-5A9F-8F13-2ACAFD9D0DC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  <a:ext uri="{837473B0-CC2E-450A-ABE3-18F120FF3D39}">
                <a1611:picAttrSrcUrl xmlns:a1611="http://schemas.microsoft.com/office/drawing/2016/11/main" r:id="rId31"/>
              </a:ext>
            </a:extLst>
          </a:blip>
          <a:stretch>
            <a:fillRect/>
          </a:stretch>
        </p:blipFill>
        <p:spPr>
          <a:xfrm>
            <a:off x="8353375" y="5488921"/>
            <a:ext cx="661709" cy="723598"/>
          </a:xfrm>
          <a:prstGeom prst="rect">
            <a:avLst/>
          </a:prstGeom>
        </p:spPr>
      </p:pic>
      <p:sp>
        <p:nvSpPr>
          <p:cNvPr id="2076" name="TextBox 2075">
            <a:extLst>
              <a:ext uri="{FF2B5EF4-FFF2-40B4-BE49-F238E27FC236}">
                <a16:creationId xmlns:a16="http://schemas.microsoft.com/office/drawing/2014/main" id="{0928CF29-09E0-1763-4333-2A5E31CFCEA3}"/>
              </a:ext>
            </a:extLst>
          </p:cNvPr>
          <p:cNvSpPr txBox="1"/>
          <p:nvPr/>
        </p:nvSpPr>
        <p:spPr>
          <a:xfrm>
            <a:off x="8557655" y="6028414"/>
            <a:ext cx="8786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Approved </a:t>
            </a:r>
            <a:endParaRPr lang="en-IN" sz="1050" dirty="0">
              <a:solidFill>
                <a:srgbClr val="FF0000"/>
              </a:solidFill>
            </a:endParaRPr>
          </a:p>
        </p:txBody>
      </p:sp>
      <p:pic>
        <p:nvPicPr>
          <p:cNvPr id="2078" name="Picture 2077">
            <a:extLst>
              <a:ext uri="{FF2B5EF4-FFF2-40B4-BE49-F238E27FC236}">
                <a16:creationId xmlns:a16="http://schemas.microsoft.com/office/drawing/2014/main" id="{BA10BD0F-7EBE-1E4A-419C-8C6E9EC420B0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837473B0-CC2E-450A-ABE3-18F120FF3D39}">
                <a1611:picAttrSrcUrl xmlns:a1611="http://schemas.microsoft.com/office/drawing/2016/11/main" r:id="rId33"/>
              </a:ext>
            </a:extLst>
          </a:blip>
          <a:srcRect l="25726" t="3520" r="28290" b="4796"/>
          <a:stretch>
            <a:fillRect/>
          </a:stretch>
        </p:blipFill>
        <p:spPr>
          <a:xfrm>
            <a:off x="3431182" y="5519156"/>
            <a:ext cx="315138" cy="442962"/>
          </a:xfrm>
          <a:prstGeom prst="rect">
            <a:avLst/>
          </a:prstGeom>
        </p:spPr>
      </p:pic>
      <p:pic>
        <p:nvPicPr>
          <p:cNvPr id="2080" name="Graphic 2079">
            <a:extLst>
              <a:ext uri="{FF2B5EF4-FFF2-40B4-BE49-F238E27FC236}">
                <a16:creationId xmlns:a16="http://schemas.microsoft.com/office/drawing/2014/main" id="{23B3113E-862F-6816-437D-099C82F02E5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  <a:ext uri="{837473B0-CC2E-450A-ABE3-18F120FF3D39}">
                <a1611:picAttrSrcUrl xmlns:a1611="http://schemas.microsoft.com/office/drawing/2016/11/main" r:id="rId36"/>
              </a:ext>
            </a:extLst>
          </a:blip>
          <a:stretch>
            <a:fillRect/>
          </a:stretch>
        </p:blipFill>
        <p:spPr>
          <a:xfrm>
            <a:off x="3751993" y="5503191"/>
            <a:ext cx="705437" cy="493847"/>
          </a:xfrm>
          <a:prstGeom prst="rect">
            <a:avLst/>
          </a:prstGeom>
        </p:spPr>
      </p:pic>
      <p:pic>
        <p:nvPicPr>
          <p:cNvPr id="2082" name="Picture 2081">
            <a:extLst>
              <a:ext uri="{FF2B5EF4-FFF2-40B4-BE49-F238E27FC236}">
                <a16:creationId xmlns:a16="http://schemas.microsoft.com/office/drawing/2014/main" id="{F6879E47-3900-139C-6086-726F10AB9D2C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837473B0-CC2E-450A-ABE3-18F120FF3D39}">
                <a1611:picAttrSrcUrl xmlns:a1611="http://schemas.microsoft.com/office/drawing/2016/11/main" r:id="rId38"/>
              </a:ext>
            </a:extLst>
          </a:blip>
          <a:stretch>
            <a:fillRect/>
          </a:stretch>
        </p:blipFill>
        <p:spPr>
          <a:xfrm>
            <a:off x="4719114" y="5516239"/>
            <a:ext cx="634555" cy="433395"/>
          </a:xfrm>
          <a:prstGeom prst="rect">
            <a:avLst/>
          </a:prstGeom>
        </p:spPr>
      </p:pic>
      <p:pic>
        <p:nvPicPr>
          <p:cNvPr id="2085" name="Picture 2084">
            <a:extLst>
              <a:ext uri="{FF2B5EF4-FFF2-40B4-BE49-F238E27FC236}">
                <a16:creationId xmlns:a16="http://schemas.microsoft.com/office/drawing/2014/main" id="{E765A739-9C47-1100-A77F-700AE7A87BE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837473B0-CC2E-450A-ABE3-18F120FF3D39}">
                <a1611:picAttrSrcUrl xmlns:a1611="http://schemas.microsoft.com/office/drawing/2016/11/main" r:id="rId40"/>
              </a:ext>
            </a:extLst>
          </a:blip>
          <a:stretch>
            <a:fillRect/>
          </a:stretch>
        </p:blipFill>
        <p:spPr>
          <a:xfrm>
            <a:off x="5419083" y="5544096"/>
            <a:ext cx="332683" cy="384976"/>
          </a:xfrm>
          <a:prstGeom prst="rect">
            <a:avLst/>
          </a:prstGeom>
        </p:spPr>
      </p:pic>
      <p:sp>
        <p:nvSpPr>
          <p:cNvPr id="2087" name="Rectangle 10">
            <a:extLst>
              <a:ext uri="{FF2B5EF4-FFF2-40B4-BE49-F238E27FC236}">
                <a16:creationId xmlns:a16="http://schemas.microsoft.com/office/drawing/2014/main" id="{11841ABA-5D27-06BD-ED8A-A01EAF9A4C5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882114" y="940682"/>
            <a:ext cx="3329513" cy="5116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sng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Methodology for processing the workflow 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Image Capture at Source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Raspberry Pi (or mobile device) captures the product label image using its camera.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 Transfer to Processing Hub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captured image is transmitted over Wi-Fi using HTTP POST to a Flask API running on the laptop.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Image Preprocessing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the laptop, OpenCV enhances the image for OCR: resizing, grayscale conversion, thresholding, and noise removal.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OCR Text Extraction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PaddleOCR Lite, it extracts text lines in structured form (bounding boxes + recognized text).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Rule Engine Compliance Validation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per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Legal Metrology Rules, 2011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n-US" altLang="en-US" sz="1050" dirty="0"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field is validated with regex patterns and logic checks (e.g., MRP must include ₹ or Rs., Net Quantity must have a standard unit).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Database Storage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(raw OCR + compliance status + violations) are stored in a SQLite database.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Dashboard Visualization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web dashboard (Flask + React) presents results to regulators/inspectors. </a:t>
            </a:r>
            <a:r>
              <a:rPr lang="en-US" altLang="en-US" sz="1050" dirty="0">
                <a:latin typeface="Arial" panose="020B0604020202020204" pitchFamily="34" charset="0"/>
              </a:rPr>
              <a:t>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tores compliance score, violation summary, history of scans, and exportable reports.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Decision &amp; Reporting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flags each product as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050" dirty="0">
                <a:latin typeface="Arial" panose="020B0604020202020204" pitchFamily="34" charset="0"/>
              </a:rPr>
              <a:t>    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Non-Compliant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missing MRP, invalid date)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16577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F758040D-481F-71F7-6359-FA143835495E}"/>
              </a:ext>
            </a:extLst>
          </p:cNvPr>
          <p:cNvSpPr/>
          <p:nvPr/>
        </p:nvSpPr>
        <p:spPr>
          <a:xfrm>
            <a:off x="609600" y="1842565"/>
            <a:ext cx="3414711" cy="3442223"/>
          </a:xfrm>
          <a:prstGeom prst="flowChartAlternateProcess">
            <a:avLst/>
          </a:prstGeom>
          <a:solidFill>
            <a:srgbClr val="2F7F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3FBC8AA3-3EE8-9C58-A00C-2829290D98CF}"/>
              </a:ext>
            </a:extLst>
          </p:cNvPr>
          <p:cNvSpPr/>
          <p:nvPr/>
        </p:nvSpPr>
        <p:spPr>
          <a:xfrm>
            <a:off x="1084472" y="5356128"/>
            <a:ext cx="9861454" cy="944780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tx1"/>
              </a:solidFill>
            </a:endParaRPr>
          </a:p>
          <a:p>
            <a:pPr algn="just"/>
            <a:r>
              <a:rPr lang="en-IN" sz="1600" b="1" dirty="0">
                <a:solidFill>
                  <a:schemeClr val="tx1"/>
                </a:solidFill>
              </a:rPr>
              <a:t>									</a:t>
            </a:r>
            <a:r>
              <a:rPr lang="en-IN" sz="1600" b="1" u="sng" dirty="0">
                <a:solidFill>
                  <a:schemeClr val="accent5">
                    <a:lumMod val="50000"/>
                  </a:schemeClr>
                </a:solidFill>
              </a:rPr>
              <a:t>Revenue Sources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E-commerce Platform Integration :</a:t>
            </a:r>
            <a:r>
              <a:rPr lang="en-IN" sz="1600" dirty="0">
                <a:solidFill>
                  <a:schemeClr val="tx1"/>
                </a:solidFill>
              </a:rPr>
              <a:t> Paid API/plugin for Amazon, Flipkart, etc., to auto-check seller compliance.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Data Insights &amp; Analytics :</a:t>
            </a:r>
            <a:r>
              <a:rPr lang="en-IN" sz="1600" dirty="0">
                <a:solidFill>
                  <a:schemeClr val="tx1"/>
                </a:solidFill>
              </a:rPr>
              <a:t> Paid reports on compliance trends, category-wise violations, and seller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Hardware Sales :</a:t>
            </a:r>
            <a:r>
              <a:rPr lang="en-IN" sz="1600" dirty="0">
                <a:solidFill>
                  <a:schemeClr val="tx1"/>
                </a:solidFill>
              </a:rPr>
              <a:t> Low-cost Raspberry Pi + camera kits sold to inspection agencies or enterprises.</a:t>
            </a:r>
          </a:p>
          <a:p>
            <a:pPr algn="just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59F738EE-EEF7-A837-5003-28CAAFE5A806}"/>
              </a:ext>
            </a:extLst>
          </p:cNvPr>
          <p:cNvSpPr/>
          <p:nvPr/>
        </p:nvSpPr>
        <p:spPr>
          <a:xfrm>
            <a:off x="8048622" y="1842565"/>
            <a:ext cx="3414711" cy="3424185"/>
          </a:xfrm>
          <a:prstGeom prst="flowChartAlternateProcess">
            <a:avLst/>
          </a:prstGeom>
          <a:solidFill>
            <a:srgbClr val="2F7F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F2A6B3F7-E164-C775-3E1D-7F9FBEA26402}"/>
              </a:ext>
            </a:extLst>
          </p:cNvPr>
          <p:cNvSpPr/>
          <p:nvPr/>
        </p:nvSpPr>
        <p:spPr>
          <a:xfrm>
            <a:off x="4195360" y="1430532"/>
            <a:ext cx="3682211" cy="3854256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6D7570EF-B2B0-2674-E8DF-30D72AFCA836}"/>
              </a:ext>
            </a:extLst>
          </p:cNvPr>
          <p:cNvSpPr/>
          <p:nvPr/>
        </p:nvSpPr>
        <p:spPr>
          <a:xfrm>
            <a:off x="883442" y="1162664"/>
            <a:ext cx="2867025" cy="601132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Feasibility Analysis</a:t>
            </a:r>
          </a:p>
        </p:txBody>
      </p: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BFD4DFEC-B88A-71F6-D29C-39B22B222269}"/>
              </a:ext>
            </a:extLst>
          </p:cNvPr>
          <p:cNvSpPr/>
          <p:nvPr/>
        </p:nvSpPr>
        <p:spPr>
          <a:xfrm>
            <a:off x="8309764" y="1162664"/>
            <a:ext cx="2867025" cy="601132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Overcoming Challenges</a:t>
            </a:r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68703D1F-CD85-8908-6D41-1FC7E3C0CD5E}"/>
              </a:ext>
            </a:extLst>
          </p:cNvPr>
          <p:cNvSpPr/>
          <p:nvPr/>
        </p:nvSpPr>
        <p:spPr>
          <a:xfrm>
            <a:off x="4569042" y="758060"/>
            <a:ext cx="2867025" cy="601132"/>
          </a:xfrm>
          <a:prstGeom prst="flowChartAlternateProcess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Potential Challenges &amp; Risk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103CB3-E774-DE7F-429D-7BBE8BC146C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66263" y="2093065"/>
            <a:ext cx="310137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Technical Viability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Tesseract and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EasyOCR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are ready-to-use OCR/AI models. The Raspberry Pi with camera is reasonably priced.</a:t>
            </a:r>
            <a:endParaRPr lang="en-US" altLang="en-US" sz="1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Economic Feasibility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The prototype is scalable and significantly less expensive than manual inspections thanks to cloud integration.</a:t>
            </a:r>
            <a:endParaRPr lang="en-US" altLang="en-US" sz="1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Operational Ability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Easy monitoring and fast reporting are made possible by 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centralised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dashboard that requires little training.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Regulatory and Legal Viability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Complies with the 2011 Legal Metrology Rules and aids in government initiatives to comply with digital standards.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AB5A4F3-F5C2-414A-7108-CBB66541F77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70017" y="1550098"/>
            <a:ext cx="333289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OCR Accuracy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Tilted packaging, multilingual labels, and poor image quality can all affect text recognition.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Hardware Restrictions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The Raspberry Pi might not be able to handle demanding AI/OCR processing jobs.</a:t>
            </a:r>
            <a:endParaRPr lang="en-US" altLang="en-US" sz="1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Problems with connectivity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Reliable internet access is necessary for cloud-based OCR.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Regulatory Changes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Constant system adaptation is necessary due to frequent updates in Legal Metrology regulations.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Adoption Barriers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Stricter compliance checks may be resisted by some sellers, and inspectors require training.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FDFE9AA-A043-1143-49F2-36BDBE5B675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173547" y="1996301"/>
            <a:ext cx="3164859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OCR Efficiency Problems: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improve accuracy, train models on Indian retail data, employ multilingual OCR, and apply image preprocessing.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Hardware constraints: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 Raspberry Pi models that are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optimised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heavy tasks and are lightweight, with cloud fallback.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Dependency on accessibility: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 manage erratic or low internet, offer offline-first OCR with local caching.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Regulatory Changes: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Make use of a rule engine that is modular and adaptable so that new Legal Metrology guidelines can be added quickly.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743FBC4-739F-976E-B5D4-EE358066D7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378" t="15996" r="18397" b="20950"/>
          <a:stretch>
            <a:fillRect/>
          </a:stretch>
        </p:blipFill>
        <p:spPr>
          <a:xfrm>
            <a:off x="96181" y="126950"/>
            <a:ext cx="988291" cy="100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ABA738-3688-2213-CF73-1B67635F49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378" t="15996" r="18397" b="20950"/>
          <a:stretch>
            <a:fillRect/>
          </a:stretch>
        </p:blipFill>
        <p:spPr>
          <a:xfrm>
            <a:off x="115454" y="97539"/>
            <a:ext cx="988291" cy="10014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ACEE36-1684-DCC1-1465-FCEC5C4A23E9}"/>
              </a:ext>
            </a:extLst>
          </p:cNvPr>
          <p:cNvSpPr/>
          <p:nvPr/>
        </p:nvSpPr>
        <p:spPr>
          <a:xfrm>
            <a:off x="5647971" y="965083"/>
            <a:ext cx="6204556" cy="528966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B050"/>
                </a:solidFill>
              </a:rPr>
              <a:t>Benefits of the solution</a:t>
            </a: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DF865AAF-2504-8FE9-6658-4AB82D664D50}"/>
              </a:ext>
            </a:extLst>
          </p:cNvPr>
          <p:cNvSpPr/>
          <p:nvPr/>
        </p:nvSpPr>
        <p:spPr>
          <a:xfrm>
            <a:off x="1027071" y="980502"/>
            <a:ext cx="4492379" cy="5237738"/>
          </a:xfrm>
          <a:prstGeom prst="frame">
            <a:avLst>
              <a:gd name="adj1" fmla="val 1720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B050"/>
                </a:solidFill>
              </a:rPr>
              <a:t>Potential impact</a:t>
            </a: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9B68CD4E-D6EA-84CF-7339-2A6BBB710983}"/>
              </a:ext>
            </a:extLst>
          </p:cNvPr>
          <p:cNvSpPr/>
          <p:nvPr/>
        </p:nvSpPr>
        <p:spPr>
          <a:xfrm>
            <a:off x="5559034" y="688706"/>
            <a:ext cx="734460" cy="705079"/>
          </a:xfrm>
          <a:prstGeom prst="mathPlus">
            <a:avLst/>
          </a:prstGeom>
          <a:solidFill>
            <a:srgbClr val="E44D2A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8E0E0B98-1EA3-8897-FFBD-05555DF2E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745" y="1640225"/>
            <a:ext cx="426675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Platforms for E-Commerce:	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verification prior to listings going live is known as Seller Compliance Assurance.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Producers and Vendors</a:t>
            </a:r>
            <a:r>
              <a:rPr lang="en-US" altLang="en-US" sz="1400" b="1" dirty="0"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Error Detection: Finds missing or inaccurate statements before goods are put on the market.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Decreased Penalties: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the likelihood of fines and legal risks brought on by non-compliance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 Information: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Guarantees that each product's MRP, quantity, and origin information are correct.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 Trade Protection: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overcharging or misleading packaging.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both online and physical marketplaces, empowered decision-making fosters trust.</a:t>
            </a: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AD2A5687-B57E-CABF-D2FA-2924EB0688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761316"/>
              </p:ext>
            </p:extLst>
          </p:nvPr>
        </p:nvGraphicFramePr>
        <p:xfrm>
          <a:off x="5608386" y="1375960"/>
          <a:ext cx="6204555" cy="4842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31C7365-CA2A-F759-C890-EBE68E548C87}"/>
              </a:ext>
            </a:extLst>
          </p:cNvPr>
          <p:cNvSpPr txBox="1"/>
          <p:nvPr/>
        </p:nvSpPr>
        <p:spPr>
          <a:xfrm rot="10800000" flipV="1">
            <a:off x="5735228" y="2031926"/>
            <a:ext cx="1391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Social Advantages</a:t>
            </a:r>
            <a:endParaRPr lang="en-IN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FAB130-10CC-824A-14B8-8F2AD56C589F}"/>
              </a:ext>
            </a:extLst>
          </p:cNvPr>
          <p:cNvSpPr txBox="1"/>
          <p:nvPr/>
        </p:nvSpPr>
        <p:spPr>
          <a:xfrm>
            <a:off x="6098975" y="3530338"/>
            <a:ext cx="1162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Financial Gains</a:t>
            </a:r>
            <a:endParaRPr lang="en-IN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7E8EA-8800-D549-21B6-2B5D52C2F23C}"/>
              </a:ext>
            </a:extLst>
          </p:cNvPr>
          <p:cNvSpPr txBox="1"/>
          <p:nvPr/>
        </p:nvSpPr>
        <p:spPr>
          <a:xfrm>
            <a:off x="5729814" y="4884086"/>
            <a:ext cx="15319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Advantages </a:t>
            </a:r>
          </a:p>
          <a:p>
            <a:r>
              <a:rPr lang="en-US" altLang="en-US" sz="1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for the Environment</a:t>
            </a:r>
            <a:endParaRPr lang="en-IN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87927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B4F3B5C-7618-A5FA-E95C-2E451872B8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378" t="15996" r="18397" b="20950"/>
          <a:stretch>
            <a:fillRect/>
          </a:stretch>
        </p:blipFill>
        <p:spPr>
          <a:xfrm>
            <a:off x="115454" y="93920"/>
            <a:ext cx="988291" cy="10014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4D84B5-0019-BFD4-6576-60A3CFC5AF7D}"/>
              </a:ext>
            </a:extLst>
          </p:cNvPr>
          <p:cNvSpPr/>
          <p:nvPr/>
        </p:nvSpPr>
        <p:spPr>
          <a:xfrm>
            <a:off x="383307" y="5526159"/>
            <a:ext cx="7615384" cy="710912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link : </a:t>
            </a:r>
            <a:r>
              <a:rPr lang="en-US" sz="1400" dirty="0">
                <a:hlinkClick r:id="rId5"/>
              </a:rPr>
              <a:t>https://drive.google.com/file/d/1wEFp7mydd5Igp0nMkjoayqNrG63ZHNBb/view?usp=drive_link</a:t>
            </a:r>
            <a:r>
              <a:rPr lang="en-US" sz="1400" dirty="0"/>
              <a:t> </a:t>
            </a:r>
            <a:endParaRPr lang="en-IN" sz="1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4699CC-F99B-6D92-0611-B0239C8E364E}"/>
              </a:ext>
            </a:extLst>
          </p:cNvPr>
          <p:cNvGrpSpPr/>
          <p:nvPr/>
        </p:nvGrpSpPr>
        <p:grpSpPr>
          <a:xfrm>
            <a:off x="729673" y="5124852"/>
            <a:ext cx="5994400" cy="950024"/>
            <a:chOff x="363681" y="19448"/>
            <a:chExt cx="5091545" cy="124590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8A11037-DE36-6B06-C097-E5C712812CD7}"/>
                </a:ext>
              </a:extLst>
            </p:cNvPr>
            <p:cNvSpPr/>
            <p:nvPr/>
          </p:nvSpPr>
          <p:spPr>
            <a:xfrm>
              <a:off x="363681" y="19448"/>
              <a:ext cx="5091545" cy="1033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B0F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12" name="Rectangle: Rounded Corners 5">
              <a:extLst>
                <a:ext uri="{FF2B5EF4-FFF2-40B4-BE49-F238E27FC236}">
                  <a16:creationId xmlns:a16="http://schemas.microsoft.com/office/drawing/2014/main" id="{395A0BB9-B19A-58A7-8D71-FA8AFA36CD23}"/>
                </a:ext>
              </a:extLst>
            </p:cNvPr>
            <p:cNvSpPr txBox="1"/>
            <p:nvPr/>
          </p:nvSpPr>
          <p:spPr>
            <a:xfrm>
              <a:off x="414117" y="124402"/>
              <a:ext cx="4990671" cy="1140955"/>
            </a:xfrm>
            <a:prstGeom prst="rect">
              <a:avLst/>
            </a:prstGeom>
            <a:ln w="127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92448" tIns="0" rIns="192448" bIns="0" numCol="1" spcCol="1270" anchor="ctr" anchorCtr="0">
              <a:noAutofit/>
            </a:bodyPr>
            <a:lstStyle/>
            <a:p>
              <a:pPr lvl="0" algn="just" defTabSz="1555750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Comparing Traditional OCR with Generative AI-Assisted OCR: Advancements and Applications.</a:t>
              </a:r>
            </a:p>
            <a:p>
              <a:pPr lvl="0" algn="just" defTabSz="1555750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By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Dhavalkumar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Patel, Volume 14 Issue 6, June 2025, International Journal of Science and Research (IJSR)  </a:t>
              </a:r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                   </a:t>
              </a:r>
              <a:r>
                <a:rPr lang="en-IN" sz="1200" dirty="0">
                  <a:solidFill>
                    <a:srgbClr val="C00000"/>
                  </a:solidFill>
                </a:rPr>
                <a:t>DOI</a:t>
              </a:r>
              <a:r>
                <a:rPr lang="en-IN" sz="1200" dirty="0"/>
                <a:t>:</a:t>
              </a:r>
              <a:r>
                <a:rPr lang="en-IN" sz="1200" dirty="0">
                  <a:solidFill>
                    <a:srgbClr val="0000FF"/>
                  </a:solidFill>
                </a:rPr>
                <a:t> </a:t>
              </a:r>
              <a:r>
                <a:rPr lang="en-IN" sz="1200" u="sng" dirty="0">
                  <a:solidFill>
                    <a:srgbClr val="0000FF"/>
                  </a:solidFill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10.21275/SR25603211507</a:t>
              </a:r>
              <a:endParaRPr lang="en-IN" sz="1200" u="sng" dirty="0">
                <a:solidFill>
                  <a:srgbClr val="0000FF"/>
                </a:solidFill>
              </a:endParaRPr>
            </a:p>
            <a:p>
              <a:pPr lvl="0" algn="just" defTabSz="1555750">
                <a:lnSpc>
                  <a:spcPct val="90000"/>
                </a:lnSpc>
                <a:spcAft>
                  <a:spcPct val="35000"/>
                </a:spcAft>
              </a:pPr>
              <a:endParaRPr lang="en-IN" sz="12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455E543-BA39-7CF7-7A99-E395259B3411}"/>
              </a:ext>
            </a:extLst>
          </p:cNvPr>
          <p:cNvSpPr/>
          <p:nvPr/>
        </p:nvSpPr>
        <p:spPr>
          <a:xfrm>
            <a:off x="7998691" y="1810327"/>
            <a:ext cx="738909" cy="258618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  <a:scene3d>
            <a:camera prst="isometricOffAxis1Right"/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79DCF64-72ED-3D16-0748-46A9DC3E5D30}"/>
              </a:ext>
            </a:extLst>
          </p:cNvPr>
          <p:cNvSpPr/>
          <p:nvPr/>
        </p:nvSpPr>
        <p:spPr>
          <a:xfrm>
            <a:off x="7998691" y="3122523"/>
            <a:ext cx="738909" cy="258618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  <a:scene3d>
            <a:camera prst="isometricOffAxis1Right"/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BA02636-F70A-C2E8-678C-8656C9D9DF86}"/>
              </a:ext>
            </a:extLst>
          </p:cNvPr>
          <p:cNvSpPr/>
          <p:nvPr/>
        </p:nvSpPr>
        <p:spPr>
          <a:xfrm>
            <a:off x="7998691" y="4422522"/>
            <a:ext cx="738909" cy="258618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  <a:scene3d>
            <a:camera prst="isometricOffAxis1Right"/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D8D0A2D-BA2F-E475-D17B-22B06D72DB63}"/>
              </a:ext>
            </a:extLst>
          </p:cNvPr>
          <p:cNvSpPr/>
          <p:nvPr/>
        </p:nvSpPr>
        <p:spPr>
          <a:xfrm>
            <a:off x="7998691" y="5734718"/>
            <a:ext cx="738909" cy="258618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  <a:scene3d>
            <a:camera prst="isometricOffAxis1Right"/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F521E03B-887D-17BF-9230-EB7CEAF923DB}"/>
              </a:ext>
            </a:extLst>
          </p:cNvPr>
          <p:cNvSpPr/>
          <p:nvPr/>
        </p:nvSpPr>
        <p:spPr>
          <a:xfrm>
            <a:off x="8737600" y="920211"/>
            <a:ext cx="3312886" cy="1195347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27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 sz="1300" dirty="0"/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D6B6DA98-6A0B-62AC-9B7A-7B50975A5EBF}"/>
              </a:ext>
            </a:extLst>
          </p:cNvPr>
          <p:cNvSpPr/>
          <p:nvPr/>
        </p:nvSpPr>
        <p:spPr>
          <a:xfrm>
            <a:off x="8737600" y="3557831"/>
            <a:ext cx="3312886" cy="1439285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Folded Corner 20">
            <a:extLst>
              <a:ext uri="{FF2B5EF4-FFF2-40B4-BE49-F238E27FC236}">
                <a16:creationId xmlns:a16="http://schemas.microsoft.com/office/drawing/2014/main" id="{ED82A32A-1846-33F6-493A-8649ED3EABF8}"/>
              </a:ext>
            </a:extLst>
          </p:cNvPr>
          <p:cNvSpPr/>
          <p:nvPr/>
        </p:nvSpPr>
        <p:spPr>
          <a:xfrm>
            <a:off x="8737600" y="2148954"/>
            <a:ext cx="3312886" cy="1370182"/>
          </a:xfrm>
          <a:prstGeom prst="foldedCorner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0E19E392-8962-669C-464D-F0316E7A5F6F}"/>
              </a:ext>
            </a:extLst>
          </p:cNvPr>
          <p:cNvSpPr/>
          <p:nvPr/>
        </p:nvSpPr>
        <p:spPr>
          <a:xfrm>
            <a:off x="8737600" y="5042566"/>
            <a:ext cx="3312886" cy="1288071"/>
          </a:xfrm>
          <a:prstGeom prst="foldedCorner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EF19F6-2261-6F4E-878B-D3C17BF20A61}"/>
              </a:ext>
            </a:extLst>
          </p:cNvPr>
          <p:cNvSpPr/>
          <p:nvPr/>
        </p:nvSpPr>
        <p:spPr>
          <a:xfrm>
            <a:off x="383307" y="4193660"/>
            <a:ext cx="7615384" cy="710912"/>
          </a:xfrm>
          <a:prstGeom prst="rect">
            <a:avLst/>
          </a:prstGeom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link : </a:t>
            </a:r>
            <a:r>
              <a:rPr lang="en-US" sz="1400" dirty="0">
                <a:hlinkClick r:id="rId7"/>
              </a:rPr>
              <a:t>https://drive.google.com/file/d/1xZBV24YyIomgg2tUYEdKR6PDo58ja7EX/view?usp=drive_link</a:t>
            </a:r>
            <a:r>
              <a:rPr lang="en-US" sz="1400" dirty="0"/>
              <a:t>  </a:t>
            </a:r>
            <a:endParaRPr lang="en-IN" sz="1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3BFD35-545F-15DD-9E83-98319FD044CD}"/>
              </a:ext>
            </a:extLst>
          </p:cNvPr>
          <p:cNvGrpSpPr/>
          <p:nvPr/>
        </p:nvGrpSpPr>
        <p:grpSpPr>
          <a:xfrm>
            <a:off x="729673" y="3792353"/>
            <a:ext cx="5994400" cy="950024"/>
            <a:chOff x="363681" y="19448"/>
            <a:chExt cx="5091545" cy="124590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A297171-94E2-7CEF-956E-A13832860B25}"/>
                </a:ext>
              </a:extLst>
            </p:cNvPr>
            <p:cNvSpPr/>
            <p:nvPr/>
          </p:nvSpPr>
          <p:spPr>
            <a:xfrm>
              <a:off x="363681" y="19448"/>
              <a:ext cx="5091545" cy="1033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26" name="Rectangle: Rounded Corners 5">
              <a:extLst>
                <a:ext uri="{FF2B5EF4-FFF2-40B4-BE49-F238E27FC236}">
                  <a16:creationId xmlns:a16="http://schemas.microsoft.com/office/drawing/2014/main" id="{6AA48C05-3B71-E84C-3B4F-1D66F5145023}"/>
                </a:ext>
              </a:extLst>
            </p:cNvPr>
            <p:cNvSpPr txBox="1"/>
            <p:nvPr/>
          </p:nvSpPr>
          <p:spPr>
            <a:xfrm>
              <a:off x="414117" y="124402"/>
              <a:ext cx="4990671" cy="1140955"/>
            </a:xfrm>
            <a:prstGeom prst="rect">
              <a:avLst/>
            </a:prstGeom>
            <a:ln w="127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92448" tIns="0" rIns="192448" bIns="0" numCol="1" spcCol="1270" anchor="ctr" anchorCtr="0">
              <a:noAutofit/>
            </a:bodyPr>
            <a:lstStyle/>
            <a:p>
              <a:pPr lvl="0" algn="just" defTabSz="1555750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PreP</a:t>
              </a:r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-OCR: A Complete Pipeline for Document Image Restoration and Enhanced OCR Accuracy.</a:t>
              </a:r>
            </a:p>
            <a:p>
              <a:pPr lvl="0" algn="just" defTabSz="1555750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By </a:t>
              </a:r>
              <a:r>
                <a:rPr lang="en-IN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Shuhao</a:t>
              </a:r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 Guan, Moule Lin, Cheng Xu, Xinyi Liu, </a:t>
              </a:r>
              <a:r>
                <a:rPr lang="en-IN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Jinman</a:t>
              </a:r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 Zhao, </a:t>
              </a:r>
              <a:r>
                <a:rPr lang="en-IN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Jiexin</a:t>
              </a:r>
              <a:r>
                <a:rPr lang="en-IN" sz="1200" dirty="0">
                  <a:latin typeface="Arial" panose="020B0604020202020204" pitchFamily="34" charset="0"/>
                  <a:cs typeface="Arial" panose="020B0604020202020204" pitchFamily="34" charset="0"/>
                </a:rPr>
                <a:t> Fan, Qi Xu, and Derek Greene.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                              </a:t>
              </a:r>
              <a:r>
                <a:rPr lang="en-IN" sz="1200" dirty="0">
                  <a:solidFill>
                    <a:srgbClr val="C00000"/>
                  </a:solidFill>
                </a:rPr>
                <a:t>DOI</a:t>
              </a:r>
              <a:r>
                <a:rPr lang="en-IN" sz="1200" dirty="0"/>
                <a:t>:</a:t>
              </a:r>
              <a:r>
                <a:rPr lang="en-IN" sz="1200" dirty="0">
                  <a:solidFill>
                    <a:srgbClr val="00B0F0"/>
                  </a:solidFill>
                </a:rPr>
                <a:t> </a:t>
              </a:r>
              <a:r>
                <a:rPr lang="en-IN" sz="1200" u="sng" dirty="0">
                  <a:solidFill>
                    <a:srgbClr val="0000FF"/>
                  </a:solidFill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10.48550/arXiv.2505.20429</a:t>
              </a:r>
              <a:endParaRPr lang="en-IN" sz="1200" u="sng" dirty="0">
                <a:solidFill>
                  <a:srgbClr val="0000FF"/>
                </a:solidFill>
              </a:endParaRPr>
            </a:p>
            <a:p>
              <a:pPr lvl="0" algn="just" defTabSz="1555750">
                <a:lnSpc>
                  <a:spcPct val="90000"/>
                </a:lnSpc>
                <a:spcAft>
                  <a:spcPct val="35000"/>
                </a:spcAft>
              </a:pPr>
              <a:endParaRPr lang="en-IN" sz="12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6C438EE-E099-4A19-158A-AFAB1480B6AF}"/>
              </a:ext>
            </a:extLst>
          </p:cNvPr>
          <p:cNvSpPr/>
          <p:nvPr/>
        </p:nvSpPr>
        <p:spPr>
          <a:xfrm>
            <a:off x="383307" y="2866106"/>
            <a:ext cx="7615384" cy="710912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link : </a:t>
            </a:r>
            <a:r>
              <a:rPr lang="en-US" sz="1400" dirty="0">
                <a:hlinkClick r:id="rId9"/>
              </a:rPr>
              <a:t>https://drive.google.com/file/d/1GPlCDGIr6VxEA8y-TfS8qyQbpejsiigM/view?usp=drive_link</a:t>
            </a:r>
            <a:r>
              <a:rPr lang="en-US" sz="1400" dirty="0"/>
              <a:t>  </a:t>
            </a:r>
            <a:endParaRPr lang="en-IN" sz="1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F162C0A-983F-6774-55D1-7B58F6367C74}"/>
              </a:ext>
            </a:extLst>
          </p:cNvPr>
          <p:cNvGrpSpPr/>
          <p:nvPr/>
        </p:nvGrpSpPr>
        <p:grpSpPr>
          <a:xfrm>
            <a:off x="729673" y="2464799"/>
            <a:ext cx="5994400" cy="1042285"/>
            <a:chOff x="363681" y="19448"/>
            <a:chExt cx="5091545" cy="1366905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EBEBED2-9E73-E0CC-5848-D3161960AAE2}"/>
                </a:ext>
              </a:extLst>
            </p:cNvPr>
            <p:cNvSpPr/>
            <p:nvPr/>
          </p:nvSpPr>
          <p:spPr>
            <a:xfrm>
              <a:off x="363681" y="19448"/>
              <a:ext cx="5091545" cy="1033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FFC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30" name="Rectangle: Rounded Corners 5">
              <a:extLst>
                <a:ext uri="{FF2B5EF4-FFF2-40B4-BE49-F238E27FC236}">
                  <a16:creationId xmlns:a16="http://schemas.microsoft.com/office/drawing/2014/main" id="{484AFE9D-0A34-1937-547D-8ACD86B20EB7}"/>
                </a:ext>
              </a:extLst>
            </p:cNvPr>
            <p:cNvSpPr txBox="1"/>
            <p:nvPr/>
          </p:nvSpPr>
          <p:spPr>
            <a:xfrm>
              <a:off x="414117" y="245398"/>
              <a:ext cx="4990671" cy="1140955"/>
            </a:xfrm>
            <a:prstGeom prst="rect">
              <a:avLst/>
            </a:prstGeom>
            <a:ln w="127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92448" tIns="0" rIns="192448" bIns="0" numCol="1" spcCol="1270" anchor="ctr" anchorCtr="0">
              <a:noAutofit/>
            </a:bodyPr>
            <a:lstStyle/>
            <a:p>
              <a:pPr lvl="0" algn="just" defTabSz="1555750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The Role of Natural Language Processing (NLP) in Translating Legal Documents with High Accuracy.</a:t>
              </a:r>
            </a:p>
            <a:p>
              <a:pPr algn="just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By Mavluda Ahmedshaeva,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Nodirakhon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Pulatova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, Sherzod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Khayitov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, Dilafruz Sufiyeva4 and Mohinur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Nizomova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at IJSR       </a:t>
              </a:r>
              <a:r>
                <a:rPr lang="en-IN" sz="1200" dirty="0">
                  <a:solidFill>
                    <a:srgbClr val="C00000"/>
                  </a:solidFill>
                </a:rPr>
                <a:t>DOI</a:t>
              </a:r>
              <a:r>
                <a:rPr lang="en-IN" sz="1200" dirty="0"/>
                <a:t>: </a:t>
              </a:r>
              <a:r>
                <a:rPr lang="en-IN" sz="1200" u="sng" dirty="0">
                  <a:solidFill>
                    <a:srgbClr val="0000FF"/>
                  </a:solidFill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10.51983/ijiss-2025.IJISS.15.2.12</a:t>
              </a:r>
              <a:endParaRPr lang="en-IN" sz="1200" dirty="0">
                <a:solidFill>
                  <a:srgbClr val="0000FF"/>
                </a:solidFill>
              </a:endParaRPr>
            </a:p>
            <a:p>
              <a:pPr lvl="0" algn="just" defTabSz="1555750">
                <a:lnSpc>
                  <a:spcPct val="90000"/>
                </a:lnSpc>
                <a:spcAft>
                  <a:spcPct val="35000"/>
                </a:spcAft>
              </a:pPr>
              <a:endParaRPr lang="en-IN" sz="1200" u="sng" dirty="0"/>
            </a:p>
            <a:p>
              <a:pPr lvl="0" algn="just" defTabSz="1555750">
                <a:lnSpc>
                  <a:spcPct val="90000"/>
                </a:lnSpc>
                <a:spcAft>
                  <a:spcPct val="35000"/>
                </a:spcAft>
              </a:pPr>
              <a:endParaRPr lang="en-IN" sz="12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87F3C31-835A-42AC-4318-2A4B75C7F628}"/>
              </a:ext>
            </a:extLst>
          </p:cNvPr>
          <p:cNvSpPr/>
          <p:nvPr/>
        </p:nvSpPr>
        <p:spPr>
          <a:xfrm>
            <a:off x="387927" y="1534635"/>
            <a:ext cx="7615384" cy="71091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link : </a:t>
            </a:r>
            <a:r>
              <a:rPr lang="en-US" sz="1400" dirty="0">
                <a:hlinkClick r:id="rId5"/>
              </a:rPr>
              <a:t>https://drive.google.com/file/d/1wEFp7mydd5Igp0nMkjoayqNrG63ZHNBb/view?usp=drive_link</a:t>
            </a:r>
            <a:r>
              <a:rPr lang="en-US" sz="1400" dirty="0"/>
              <a:t> </a:t>
            </a:r>
            <a:endParaRPr lang="en-IN" sz="14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28F767E-F65F-487A-A4EE-9D25216CACA1}"/>
              </a:ext>
            </a:extLst>
          </p:cNvPr>
          <p:cNvGrpSpPr/>
          <p:nvPr/>
        </p:nvGrpSpPr>
        <p:grpSpPr>
          <a:xfrm>
            <a:off x="734293" y="1133328"/>
            <a:ext cx="5994400" cy="909890"/>
            <a:chOff x="363681" y="19448"/>
            <a:chExt cx="5091545" cy="1116999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F32032A8-21F9-B949-AD3B-02E29CE66E9D}"/>
                </a:ext>
              </a:extLst>
            </p:cNvPr>
            <p:cNvSpPr/>
            <p:nvPr/>
          </p:nvSpPr>
          <p:spPr>
            <a:xfrm>
              <a:off x="363681" y="19448"/>
              <a:ext cx="5091545" cy="1033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34" name="Rectangle: Rounded Corners 5">
              <a:extLst>
                <a:ext uri="{FF2B5EF4-FFF2-40B4-BE49-F238E27FC236}">
                  <a16:creationId xmlns:a16="http://schemas.microsoft.com/office/drawing/2014/main" id="{8518E8BF-9E3B-C908-7212-5992A09FA827}"/>
                </a:ext>
              </a:extLst>
            </p:cNvPr>
            <p:cNvSpPr txBox="1"/>
            <p:nvPr/>
          </p:nvSpPr>
          <p:spPr>
            <a:xfrm>
              <a:off x="464555" y="158428"/>
              <a:ext cx="4990671" cy="978019"/>
            </a:xfrm>
            <a:prstGeom prst="rect">
              <a:avLst/>
            </a:prstGeom>
            <a:ln w="127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92448" tIns="0" rIns="192448" bIns="0" numCol="1" spcCol="1270" anchor="ctr" anchorCtr="0">
              <a:noAutofit/>
            </a:bodyPr>
            <a:lstStyle/>
            <a:p>
              <a:pPr lvl="0" algn="just" defTabSz="1555750">
                <a:lnSpc>
                  <a:spcPct val="90000"/>
                </a:lnSpc>
                <a:spcAft>
                  <a:spcPct val="35000"/>
                </a:spcAft>
              </a:pPr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DISGO: Automatic End-to-End Evaluation for Scene Text OCR.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By Mei-Yuh Hwang, Yangyang Shi, Ankit Ramchandani, Guan Pang, Praveen Krishnan, Lucas Kabela, Frank Seide, Samyak Datta, Jun Liu                                                                                                                                      						               </a:t>
              </a:r>
              <a:r>
                <a:rPr lang="en-IN" sz="1200" dirty="0">
                  <a:solidFill>
                    <a:srgbClr val="C00000"/>
                  </a:solidFill>
                  <a:latin typeface="+mj-lt"/>
                  <a:cs typeface="Arial" panose="020B0604020202020204" pitchFamily="34" charset="0"/>
                </a:rPr>
                <a:t>DOI</a:t>
              </a:r>
              <a:r>
                <a:rPr lang="en-IN" sz="1200" dirty="0">
                  <a:latin typeface="+mj-lt"/>
                  <a:cs typeface="Arial" panose="020B0604020202020204" pitchFamily="34" charset="0"/>
                </a:rPr>
                <a:t>: </a:t>
              </a:r>
              <a:r>
                <a:rPr lang="en-IN" sz="1200" u="sng" dirty="0">
                  <a:solidFill>
                    <a:srgbClr val="0000FF"/>
                  </a:solidFill>
                  <a:latin typeface="+mj-lt"/>
                  <a:cs typeface="Arial" panose="020B0604020202020204" pitchFamily="34" charset="0"/>
                  <a:hlinkClick r:id="rId11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10.48550/arXiv.2308.13173</a:t>
              </a:r>
              <a:endParaRPr lang="en-IN" sz="1200" dirty="0">
                <a:solidFill>
                  <a:srgbClr val="0000FF"/>
                </a:solidFill>
                <a:latin typeface="+mj-lt"/>
                <a:cs typeface="Arial" panose="020B0604020202020204" pitchFamily="34" charset="0"/>
              </a:endParaRPr>
            </a:p>
            <a:p>
              <a:pPr lvl="0" algn="just" defTabSz="1555750">
                <a:lnSpc>
                  <a:spcPct val="90000"/>
                </a:lnSpc>
                <a:spcAft>
                  <a:spcPct val="35000"/>
                </a:spcAft>
              </a:pPr>
              <a:endParaRPr lang="en-IN" sz="12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Rectangle 7">
            <a:extLst>
              <a:ext uri="{FF2B5EF4-FFF2-40B4-BE49-F238E27FC236}">
                <a16:creationId xmlns:a16="http://schemas.microsoft.com/office/drawing/2014/main" id="{596A0DBB-22FD-1128-61F1-FF468E44FB5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686878" y="937919"/>
            <a:ext cx="34050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study is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relevant to our project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it addresses similar OCR challenges.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Demonstrates the value of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OCR models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feasibility of running OCR on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devices like Raspberry Pi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7" name="Rectangle 9">
            <a:extLst>
              <a:ext uri="{FF2B5EF4-FFF2-40B4-BE49-F238E27FC236}">
                <a16:creationId xmlns:a16="http://schemas.microsoft.com/office/drawing/2014/main" id="{B7CE2BA2-6705-527B-443B-EDC6237D6FF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14509" y="2151509"/>
            <a:ext cx="3312887" cy="1384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NLP improves legal text translation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automates terminology, and ensures consistency.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Human oversight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still required for accuracy and reliability.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Highlights the need for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domain-specific NLP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 Legal Metrology compliance.</a:t>
            </a:r>
          </a:p>
        </p:txBody>
      </p:sp>
      <p:sp>
        <p:nvSpPr>
          <p:cNvPr id="49" name="Rectangle 11">
            <a:extLst>
              <a:ext uri="{FF2B5EF4-FFF2-40B4-BE49-F238E27FC236}">
                <a16:creationId xmlns:a16="http://schemas.microsoft.com/office/drawing/2014/main" id="{2F7C238D-BB19-A2DE-900C-16FCE192D75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14507" y="3498832"/>
            <a:ext cx="333597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Proposes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 combining image restoration and post-OCR correction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60%+ reduction in OCR errors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degraded text.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Improves OCR for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tilted, blurry, and multilingual labels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Directly supports accurate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Legal Metrology compliance checks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0" name="Rectangle 12">
            <a:extLst>
              <a:ext uri="{FF2B5EF4-FFF2-40B4-BE49-F238E27FC236}">
                <a16:creationId xmlns:a16="http://schemas.microsoft.com/office/drawing/2014/main" id="{0E781974-9643-A8F6-480D-4FDDE10C9DB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14510" y="5086436"/>
            <a:ext cx="33128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Traditional OCR</a:t>
            </a: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Struggles with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tilted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multilingual text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Lightweight AI + Cloud Support</a:t>
            </a: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Enables efficient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compliance checks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Relevance</a:t>
            </a: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Directly supports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retail packaging compliance verification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8753</TotalTime>
  <Words>1640</Words>
  <Application>Microsoft Office PowerPoint</Application>
  <PresentationFormat>Widescreen</PresentationFormat>
  <Paragraphs>210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Regulense : Package Compliance Checker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SHRUTI DHANSHETTI</cp:lastModifiedBy>
  <cp:revision>152</cp:revision>
  <dcterms:created xsi:type="dcterms:W3CDTF">2013-12-12T18:46:50Z</dcterms:created>
  <dcterms:modified xsi:type="dcterms:W3CDTF">2025-09-22T05:17:12Z</dcterms:modified>
  <cp:category/>
</cp:coreProperties>
</file>